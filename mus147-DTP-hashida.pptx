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66" r:id="rId3"/>
    <p:sldId id="259" r:id="rId4"/>
    <p:sldId id="267" r:id="rId5"/>
    <p:sldId id="262" r:id="rId6"/>
    <p:sldId id="263" r:id="rId7"/>
    <p:sldId id="264" r:id="rId8"/>
    <p:sldId id="265" r:id="rId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7147"/>
    <p:restoredTop sz="65465"/>
  </p:normalViewPr>
  <p:slideViewPr>
    <p:cSldViewPr snapToGrid="0">
      <p:cViewPr>
        <p:scale>
          <a:sx n="66" d="100"/>
          <a:sy n="66" d="100"/>
        </p:scale>
        <p:origin x="784" y="240"/>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70B496-7112-B048-9084-25035A2CC48F}" type="datetimeFigureOut">
              <a:rPr kumimoji="1" lang="ja-JP" altLang="en-US" smtClean="0"/>
              <a:t>2026/8/31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1CA453-C282-A848-AE71-D632C00C12CE}" type="slidenum">
              <a:rPr kumimoji="1" lang="ja-JP" altLang="en-US" smtClean="0"/>
              <a:t>‹#›</a:t>
            </a:fld>
            <a:endParaRPr kumimoji="1" lang="ja-JP" altLang="en-US"/>
          </a:p>
        </p:txBody>
      </p:sp>
    </p:spTree>
    <p:extLst>
      <p:ext uri="{BB962C8B-B14F-4D97-AF65-F5344CB8AC3E}">
        <p14:creationId xmlns:p14="http://schemas.microsoft.com/office/powerpoint/2010/main" val="248515914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a:t>おはようございます。福知山公立大学の橋田です。</a:t>
            </a:r>
          </a:p>
          <a:p>
            <a:r>
              <a:rPr lang="ja-JP" altLang="ja-JP"/>
              <a:t>本日は、「動的調性視（Dynamic Tonal Perspective）」という、たぶん初めて聞くタイトルだと思いますが、一人合唱インタフェースについてお話しします。</a:t>
            </a:r>
          </a:p>
          <a:p>
            <a:r>
              <a:rPr lang="ja-JP" altLang="ja-JP"/>
              <a:t>先ほどは、</a:t>
            </a:r>
            <a:r>
              <a:rPr lang="ja-JP" altLang="en-US"/>
              <a:t>「</a:t>
            </a:r>
            <a:r>
              <a:rPr lang="ja-JP" altLang="ja-JP"/>
              <a:t>一人で歌うとリアルタイムに複数の声部が生成されるデモ</a:t>
            </a:r>
            <a:r>
              <a:rPr lang="ja-JP" altLang="en-US"/>
              <a:t>」</a:t>
            </a:r>
            <a:r>
              <a:rPr lang="ja-JP" altLang="ja-JP"/>
              <a:t>をご覧いただきました。</a:t>
            </a:r>
          </a:p>
          <a:p>
            <a:r>
              <a:rPr lang="ja-JP" altLang="ja-JP"/>
              <a:t>この研究では、もちろんリアルタイムのハーモニー生成そのものも重要なテーマです。</a:t>
            </a:r>
          </a:p>
          <a:p>
            <a:r>
              <a:rPr lang="ja-JP" altLang="ja-JP"/>
              <a:t>ただ、私が今回本当に考えたかったのは、</a:t>
            </a:r>
            <a:r>
              <a:rPr lang="ja-JP" altLang="ja-JP" b="1"/>
              <a:t>そのハーモニーは、何を基準に生成されるのか</a:t>
            </a:r>
            <a:r>
              <a:rPr lang="ja-JP" altLang="ja-JP"/>
              <a:t>という問題です。</a:t>
            </a:r>
          </a:p>
          <a:p>
            <a:r>
              <a:rPr lang="ja-JP" altLang="ja-JP"/>
              <a:t>人は歌っているとき、何を基準に音楽を組み立てているのでしょうか。</a:t>
            </a:r>
          </a:p>
          <a:p>
            <a:r>
              <a:rPr lang="ja-JP" altLang="ja-JP"/>
              <a:t>その基準は、</a:t>
            </a:r>
            <a:r>
              <a:rPr lang="ja-JP" altLang="en-US"/>
              <a:t>最初から最後まで</a:t>
            </a:r>
            <a:r>
              <a:rPr lang="ja-JP" altLang="ja-JP"/>
              <a:t>ずっと変わらないのでしょうか。</a:t>
            </a:r>
          </a:p>
          <a:p>
            <a:r>
              <a:rPr lang="ja-JP" altLang="ja-JP"/>
              <a:t>私は、この**</a:t>
            </a:r>
            <a:r>
              <a:rPr lang="ja-JP" altLang="ja-JP" b="1"/>
              <a:t>「歌い手の調性基準の捉え方」そのもの</a:t>
            </a:r>
            <a:r>
              <a:rPr lang="ja-JP" altLang="ja-JP"/>
              <a:t>**を見直したいと考えました。</a:t>
            </a:r>
          </a:p>
          <a:p>
            <a:r>
              <a:rPr lang="ja-JP" altLang="ja-JP"/>
              <a:t>その考え方を、**動的調性視</a:t>
            </a:r>
            <a:r>
              <a:rPr lang="en-US" altLang="ja-JP" dirty="0"/>
              <a:t> - </a:t>
            </a:r>
            <a:r>
              <a:rPr lang="ja-JP" altLang="ja-JP"/>
              <a:t>Dynamic Tonal Perspective**と呼んでいます。</a:t>
            </a:r>
          </a:p>
          <a:p>
            <a:r>
              <a:rPr lang="ja-JP" altLang="ja-JP"/>
              <a:t>今日は、この「動的調性視」という考え方がなぜ必要なのか、そしてそれを一人合唱インタフェースとしてどのように実現したのかについて、お話ししたいと思います。</a:t>
            </a:r>
            <a:endParaRPr lang="en-US" altLang="ja-JP" dirty="0"/>
          </a:p>
          <a:p>
            <a:endParaRPr lang="en-US" altLang="ja-JP" dirty="0"/>
          </a:p>
          <a:p>
            <a:endParaRPr lang="ja-JP" altLang="ja-JP"/>
          </a:p>
        </p:txBody>
      </p:sp>
      <p:sp>
        <p:nvSpPr>
          <p:cNvPr id="4" name="スライド番号プレースホルダー 3"/>
          <p:cNvSpPr>
            <a:spLocks noGrp="1"/>
          </p:cNvSpPr>
          <p:nvPr>
            <p:ph type="sldNum" sz="quarter" idx="5"/>
          </p:nvPr>
        </p:nvSpPr>
        <p:spPr/>
        <p:txBody>
          <a:bodyPr/>
          <a:lstStyle/>
          <a:p>
            <a:fld id="{C41CA453-C282-A848-AE71-D632C00C12CE}" type="slidenum">
              <a:rPr kumimoji="1" lang="ja-JP" altLang="en-US" smtClean="0"/>
              <a:t>1</a:t>
            </a:fld>
            <a:endParaRPr kumimoji="1" lang="ja-JP" altLang="en-US"/>
          </a:p>
        </p:txBody>
      </p:sp>
    </p:spTree>
    <p:extLst>
      <p:ext uri="{BB962C8B-B14F-4D97-AF65-F5344CB8AC3E}">
        <p14:creationId xmlns:p14="http://schemas.microsoft.com/office/powerpoint/2010/main" val="16062938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a:t>では、そのハーモニーは、何を基準に生成されるのか。</a:t>
            </a:r>
          </a:p>
          <a:p>
            <a:r>
              <a:rPr lang="ja-JP" altLang="ja-JP"/>
              <a:t>一般的なハーモニー生成では、まず調やコード進行など、何らかの調性的な枠組みが先に与えられています。</a:t>
            </a:r>
          </a:p>
          <a:p>
            <a:r>
              <a:rPr lang="ja-JP" altLang="ja-JP"/>
              <a:t>たとえばC majorならC major、F majorならF majorという基準があって、その中で、3度を付ける、5度を付ける、あるいは和声進行に従って声部を決める、といった感じです。</a:t>
            </a:r>
          </a:p>
          <a:p>
            <a:r>
              <a:rPr lang="ja-JP" altLang="ja-JP"/>
              <a:t>リアルタイムのハーモナイザでも、基本的にはこうした調性やスケールの情報を、あらかじめ与えておくものが多いと思います。</a:t>
            </a:r>
          </a:p>
          <a:p>
            <a:r>
              <a:rPr lang="ja-JP" altLang="ja-JP"/>
              <a:t>でも、たぶんみなさんの多くにも、思い当たることがあると思うんですが、</a:t>
            </a:r>
          </a:p>
          <a:p>
            <a:r>
              <a:rPr lang="ja-JP" altLang="ja-JP"/>
              <a:t>一人で自由に歌っているときって、自分の中の調性の基準って、本当にずっと固定されているものでしょうか。</a:t>
            </a:r>
          </a:p>
          <a:p>
            <a:r>
              <a:rPr lang="ja-JP" altLang="ja-JP"/>
              <a:t>いや、訓練していれば、それなりに固定することはできますよ？</a:t>
            </a:r>
          </a:p>
          <a:p>
            <a:r>
              <a:rPr lang="ja-JP" altLang="ja-JP"/>
              <a:t>でも、だいたいは、</a:t>
            </a:r>
          </a:p>
          <a:p>
            <a:r>
              <a:rPr lang="ja-JP" altLang="ja-JP"/>
              <a:t>歌い始めた位置が少し違うこともありますし、</a:t>
            </a:r>
          </a:p>
          <a:p>
            <a:r>
              <a:rPr lang="ja-JP" altLang="ja-JP"/>
              <a:t>歌っているうちに全体が少し高くなったり、低くなったりもします。</a:t>
            </a:r>
          </a:p>
          <a:p>
            <a:r>
              <a:rPr lang="ja-JP" altLang="ja-JP"/>
              <a:t>それでも本人としては、「別の調へ移った」というより、同じ音楽をそのまま歌い続けている</a:t>
            </a:r>
            <a:r>
              <a:rPr lang="ja-JP" altLang="en-US"/>
              <a:t>つもりなんです。べつに悪いことではないです。</a:t>
            </a:r>
            <a:endParaRPr lang="ja-JP" altLang="ja-JP"/>
          </a:p>
          <a:p>
            <a:r>
              <a:rPr lang="ja-JP" altLang="ja-JP"/>
              <a:t>だとすると、ハーモニー生成の基準も、最初に決めた調へ強制的に固定するのではなく、歌い手の側で変化している調性の基準に合わせて、動く必要があるのではないで</a:t>
            </a:r>
            <a:r>
              <a:rPr lang="ja-JP" altLang="en-US"/>
              <a:t>しょう</a:t>
            </a:r>
            <a:r>
              <a:rPr lang="ja-JP" altLang="ja-JP"/>
              <a:t>か。</a:t>
            </a:r>
          </a:p>
          <a:p>
            <a:r>
              <a:rPr lang="ja-JP" altLang="ja-JP"/>
              <a:t>そうでないと、歌を使ったインタフェース</a:t>
            </a:r>
            <a:r>
              <a:rPr lang="ja-JP" altLang="en-US"/>
              <a:t>って</a:t>
            </a:r>
            <a:r>
              <a:rPr lang="ja-JP" altLang="ja-JP"/>
              <a:t>いくら作っても、</a:t>
            </a:r>
          </a:p>
          <a:p>
            <a:r>
              <a:rPr lang="ja-JP" altLang="ja-JP"/>
              <a:t>「いや、わたし音痴ですから…</a:t>
            </a:r>
            <a:r>
              <a:rPr lang="ja-JP" altLang="en-US"/>
              <a:t>音楽の知識ありませんから</a:t>
            </a:r>
            <a:r>
              <a:rPr lang="ja-JP" altLang="ja-JP"/>
              <a:t>…」</a:t>
            </a:r>
          </a:p>
          <a:p>
            <a:r>
              <a:rPr lang="ja-JP" altLang="ja-JP"/>
              <a:t>と尻込みされてしまって、なかなか使ってもらえるシステムにならないんです。</a:t>
            </a:r>
          </a:p>
          <a:p>
            <a:r>
              <a:rPr lang="ja-JP" altLang="ja-JP"/>
              <a:t>これが今回の発想の出発点です。</a:t>
            </a:r>
          </a:p>
        </p:txBody>
      </p:sp>
      <p:sp>
        <p:nvSpPr>
          <p:cNvPr id="4" name="スライド番号プレースホルダー 3"/>
          <p:cNvSpPr>
            <a:spLocks noGrp="1"/>
          </p:cNvSpPr>
          <p:nvPr>
            <p:ph type="sldNum" sz="quarter" idx="5"/>
          </p:nvPr>
        </p:nvSpPr>
        <p:spPr/>
        <p:txBody>
          <a:bodyPr/>
          <a:lstStyle/>
          <a:p>
            <a:fld id="{C41CA453-C282-A848-AE71-D632C00C12CE}" type="slidenum">
              <a:rPr kumimoji="1" lang="ja-JP" altLang="en-US" smtClean="0"/>
              <a:t>2</a:t>
            </a:fld>
            <a:endParaRPr kumimoji="1" lang="ja-JP" altLang="en-US"/>
          </a:p>
        </p:txBody>
      </p:sp>
    </p:spTree>
    <p:extLst>
      <p:ext uri="{BB962C8B-B14F-4D97-AF65-F5344CB8AC3E}">
        <p14:creationId xmlns:p14="http://schemas.microsoft.com/office/powerpoint/2010/main" val="40402411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a:t>もちろん，調性を扱う研究そのものは，これまでにもたくさんあります．</a:t>
            </a:r>
            <a:br>
              <a:rPr lang="ja-JP" altLang="ja-JP"/>
            </a:br>
            <a:r>
              <a:rPr lang="ja-JP" altLang="ja-JP"/>
              <a:t>調性の知覚についてはKrumhanslらの古典的な研究がありますし，ChewのSpiral Arrayのように，音高・和音・調の関係を空間としてモデル化する研究もあります．</a:t>
            </a:r>
          </a:p>
          <a:p>
            <a:r>
              <a:rPr lang="ja-JP" altLang="ja-JP"/>
              <a:t>また，Local Key EstimationやKey Trackingのように調性の時間変化を追う研究もありますし</a:t>
            </a:r>
            <a:r>
              <a:rPr lang="ja-JP" altLang="en-US"/>
              <a:t>、</a:t>
            </a:r>
            <a:r>
              <a:rPr lang="ja-JP" altLang="ja-JP"/>
              <a:t>聴取中のtonality inductionそのものを時間的に扱った研究もあります．</a:t>
            </a:r>
          </a:p>
          <a:p>
            <a:r>
              <a:rPr lang="ja-JP" altLang="ja-JP"/>
              <a:t>一方で，入力された旋律に応じてリアルタイムに和声や伴奏を生成する研究もあります．最近ではReaLchordsのような適応的伴奏生成がありますし，歌声から複数声部を生成するAI Harmonizerのような研究も出ています．</a:t>
            </a:r>
          </a:p>
          <a:p>
            <a:r>
              <a:rPr lang="ja-JP" altLang="ja-JP"/>
              <a:t>ですので，</a:t>
            </a:r>
            <a:r>
              <a:rPr lang="ja-JP" altLang="ja-JP" b="1"/>
              <a:t>「調性が時間的に変化する」とか，「リアルタイムにハーモニーを生成する」ということ自体を，今回の新しさとして主張したいわけではありません．</a:t>
            </a:r>
            <a:endParaRPr lang="ja-JP" altLang="ja-JP"/>
          </a:p>
          <a:p>
            <a:r>
              <a:rPr lang="ja-JP" altLang="ja-JP"/>
              <a:t>私が今回見たいのは，</a:t>
            </a:r>
          </a:p>
          <a:p>
            <a:r>
              <a:rPr lang="ja-JP" altLang="ja-JP"/>
              <a:t>楽曲が何調なのか，ではなく，</a:t>
            </a:r>
            <a:br>
              <a:rPr lang="ja-JP" altLang="ja-JP"/>
            </a:br>
            <a:r>
              <a:rPr lang="ja-JP" altLang="ja-JP" b="1"/>
              <a:t>歌っている本人が，いま，どのような調性参照を持っているのか．</a:t>
            </a:r>
            <a:endParaRPr lang="ja-JP" altLang="ja-JP"/>
          </a:p>
          <a:p>
            <a:r>
              <a:rPr lang="ja-JP" altLang="ja-JP"/>
              <a:t>そして，その参照が歌唱中にどう変化していくのか．</a:t>
            </a:r>
          </a:p>
          <a:p>
            <a:r>
              <a:rPr lang="ja-JP" altLang="ja-JP"/>
              <a:t>さらに，その状態の変化を，実際のハーモニー生成へ反映することです．</a:t>
            </a:r>
          </a:p>
          <a:p>
            <a:r>
              <a:rPr lang="ja-JP" altLang="ja-JP"/>
              <a:t>今回調べた範囲では，</a:t>
            </a:r>
            <a:r>
              <a:rPr lang="ja-JP" altLang="ja-JP" b="1"/>
              <a:t>歌い手側の主観的な調性参照を明示的な状態として保持・更新して，その状態をリアルタイムのHarmony Generationへ使う研究は見当たりませんでした．</a:t>
            </a:r>
            <a:endParaRPr lang="ja-JP" altLang="ja-JP"/>
          </a:p>
          <a:p>
            <a:r>
              <a:rPr lang="ja-JP" altLang="ja-JP"/>
              <a:t>つまり今回，単に「調性を動的に推定する」のではなく，</a:t>
            </a:r>
            <a:r>
              <a:rPr lang="ja-JP" altLang="ja-JP" b="1"/>
              <a:t>何を状態として定義するかを，楽曲側から歌い手側へ移しています．</a:t>
            </a:r>
            <a:endParaRPr lang="ja-JP" altLang="ja-JP"/>
          </a:p>
        </p:txBody>
      </p:sp>
      <p:sp>
        <p:nvSpPr>
          <p:cNvPr id="4" name="スライド番号プレースホルダー 3"/>
          <p:cNvSpPr>
            <a:spLocks noGrp="1"/>
          </p:cNvSpPr>
          <p:nvPr>
            <p:ph type="sldNum" sz="quarter" idx="5"/>
          </p:nvPr>
        </p:nvSpPr>
        <p:spPr/>
        <p:txBody>
          <a:bodyPr/>
          <a:lstStyle/>
          <a:p>
            <a:fld id="{C41CA453-C282-A848-AE71-D632C00C12CE}" type="slidenum">
              <a:rPr kumimoji="1" lang="ja-JP" altLang="en-US" smtClean="0"/>
              <a:t>3</a:t>
            </a:fld>
            <a:endParaRPr kumimoji="1" lang="ja-JP" altLang="en-US"/>
          </a:p>
        </p:txBody>
      </p:sp>
    </p:spTree>
    <p:extLst>
      <p:ext uri="{BB962C8B-B14F-4D97-AF65-F5344CB8AC3E}">
        <p14:creationId xmlns:p14="http://schemas.microsoft.com/office/powerpoint/2010/main" val="27232554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a:t>さて、</a:t>
            </a:r>
            <a:r>
              <a:rPr lang="ja-JP" altLang="ja-JP"/>
              <a:t>ここまで，「調性の基準」とか「調性参照」という，少し曖昧な言い方をしてきました．</a:t>
            </a:r>
            <a:br>
              <a:rPr lang="ja-JP" altLang="ja-JP"/>
            </a:br>
            <a:r>
              <a:rPr lang="ja-JP" altLang="ja-JP"/>
              <a:t>ここから，これをもう少し分けて考えます．</a:t>
            </a:r>
          </a:p>
          <a:p>
            <a:r>
              <a:rPr lang="ja-JP" altLang="ja-JP"/>
              <a:t>まず，人が歌っているときに本人の中で生じている調性感を，ここでは </a:t>
            </a:r>
            <a:r>
              <a:rPr lang="ja-JP" altLang="ja-JP" b="1"/>
              <a:t>，主観的調性感</a:t>
            </a:r>
            <a:r>
              <a:rPr lang="ja-JP" altLang="ja-JP"/>
              <a:t> </a:t>
            </a:r>
            <a:r>
              <a:rPr lang="ja-JP" altLang="en-US"/>
              <a:t>（</a:t>
            </a:r>
            <a:r>
              <a:rPr lang="ja-JP" altLang="ja-JP" b="1"/>
              <a:t>Subjective Tonality</a:t>
            </a:r>
            <a:r>
              <a:rPr lang="ja-JP" altLang="en-US" b="1"/>
              <a:t>）</a:t>
            </a:r>
            <a:r>
              <a:rPr lang="ja-JP" altLang="ja-JP"/>
              <a:t>と呼びます．</a:t>
            </a:r>
          </a:p>
          <a:p>
            <a:r>
              <a:rPr lang="ja-JP" altLang="ja-JP"/>
              <a:t>これは</a:t>
            </a:r>
            <a:r>
              <a:rPr lang="ja-JP" altLang="en-US"/>
              <a:t>あくまで</a:t>
            </a:r>
            <a:r>
              <a:rPr lang="ja-JP" altLang="ja-JP"/>
              <a:t>本人の中で生じている</a:t>
            </a:r>
            <a:r>
              <a:rPr lang="ja-JP" altLang="en-US"/>
              <a:t>感覚です。</a:t>
            </a:r>
            <a:r>
              <a:rPr lang="ja-JP" altLang="ja-JP"/>
              <a:t>システムから直接見</a:t>
            </a:r>
            <a:r>
              <a:rPr lang="ja-JP" altLang="en-US"/>
              <a:t>るとか、計測しようとかいうものではありません。</a:t>
            </a:r>
            <a:endParaRPr lang="ja-JP" altLang="ja-JP"/>
          </a:p>
          <a:p>
            <a:r>
              <a:rPr lang="ja-JP" altLang="en-US"/>
              <a:t>そのかわり、この感覚を、</a:t>
            </a:r>
            <a:r>
              <a:rPr lang="ja-JP" altLang="ja-JP"/>
              <a:t>計算機上で扱うためのモデルとして，</a:t>
            </a:r>
            <a:r>
              <a:rPr lang="ja-JP" altLang="ja-JP" b="1"/>
              <a:t>Relative Tonal Frame</a:t>
            </a:r>
            <a:r>
              <a:rPr lang="ja-JP" altLang="ja-JP"/>
              <a:t> という相対的な調性の枠組みを置きます．</a:t>
            </a:r>
            <a:endParaRPr lang="en-US" altLang="ja-JP" dirty="0"/>
          </a:p>
          <a:p>
            <a:endParaRPr lang="en-US" altLang="ja-JP" dirty="0"/>
          </a:p>
          <a:p>
            <a:r>
              <a:rPr lang="ja-JP" altLang="ja-JP"/>
              <a:t>Relative Tonal Frameというのは，すごく単純に言えば，歌っている音を絶対音高そのものとして見るのではなく，「いま自分がどこをIとしているのか」を原点にして，相対的に解釈するための座標系です．</a:t>
            </a:r>
          </a:p>
          <a:p>
            <a:r>
              <a:rPr lang="ja-JP" altLang="ja-JP"/>
              <a:t>たとえば，実際の音高が少しずつ上がっていっても，本人の中では同じI，II，IIIという関係のまま歌っていることがあります．</a:t>
            </a:r>
          </a:p>
          <a:p>
            <a:r>
              <a:rPr lang="ja-JP" altLang="ja-JP"/>
              <a:t>そのとき，音そのものではなく，この座標系の方が一緒に動いている，と考えます．</a:t>
            </a:r>
          </a:p>
          <a:p>
            <a:endParaRPr lang="ja-JP" altLang="ja-JP"/>
          </a:p>
          <a:p>
            <a:r>
              <a:rPr lang="ja-JP" altLang="ja-JP"/>
              <a:t>そして，そのRelative Tonal Frameの原点になるものを，</a:t>
            </a:r>
            <a:r>
              <a:rPr lang="ja-JP" altLang="ja-JP" b="1"/>
              <a:t>Subjective Tonic，主観主音</a:t>
            </a:r>
            <a:r>
              <a:rPr lang="ja-JP" altLang="ja-JP"/>
              <a:t> と呼びます．</a:t>
            </a:r>
          </a:p>
          <a:p>
            <a:r>
              <a:rPr lang="ja-JP" altLang="ja-JP"/>
              <a:t>すごく単純化して言えば，「いま自分は，ここを基準に歌っている」という，その「ここ」にあたるものです．</a:t>
            </a:r>
          </a:p>
          <a:p>
            <a:r>
              <a:rPr lang="ja-JP" altLang="ja-JP"/>
              <a:t>大事なのは，この原点も，Frame全体も，最初に一度決めたら終わりではないということです．</a:t>
            </a:r>
          </a:p>
          <a:p>
            <a:r>
              <a:rPr lang="ja-JP" altLang="ja-JP" b="1"/>
              <a:t>歌唱に合わせて，このFrame自体が動いていく．</a:t>
            </a:r>
            <a:endParaRPr lang="ja-JP" altLang="ja-JP"/>
          </a:p>
          <a:p>
            <a:r>
              <a:rPr lang="ja-JP" altLang="ja-JP"/>
              <a:t>これが，今回のDynamic Tonal Perspectiveの基本的な考え方です．</a:t>
            </a:r>
            <a:br>
              <a:rPr lang="en-US" altLang="ja-JP" dirty="0"/>
            </a:br>
            <a:br>
              <a:rPr lang="en-US" altLang="ja-JP" dirty="0"/>
            </a:br>
            <a:r>
              <a:rPr lang="ja-JP" altLang="ja-JP"/>
              <a:t>では，このRelative Tonal Frameは，歌唱の中でどう動いていくのか。</a:t>
            </a:r>
          </a:p>
          <a:p>
            <a:r>
              <a:rPr lang="ja-JP" altLang="ja-JP"/>
              <a:t>ここが，Dynamic Tonal Perspectiveの「Dynamic」にあたる部分です。</a:t>
            </a:r>
          </a:p>
        </p:txBody>
      </p:sp>
      <p:sp>
        <p:nvSpPr>
          <p:cNvPr id="4" name="スライド番号プレースホルダー 3"/>
          <p:cNvSpPr>
            <a:spLocks noGrp="1"/>
          </p:cNvSpPr>
          <p:nvPr>
            <p:ph type="sldNum" sz="quarter" idx="5"/>
          </p:nvPr>
        </p:nvSpPr>
        <p:spPr/>
        <p:txBody>
          <a:bodyPr/>
          <a:lstStyle/>
          <a:p>
            <a:fld id="{C41CA453-C282-A848-AE71-D632C00C12CE}" type="slidenum">
              <a:rPr kumimoji="1" lang="ja-JP" altLang="en-US" smtClean="0"/>
              <a:t>4</a:t>
            </a:fld>
            <a:endParaRPr kumimoji="1" lang="ja-JP" altLang="en-US"/>
          </a:p>
        </p:txBody>
      </p:sp>
    </p:spTree>
    <p:extLst>
      <p:ext uri="{BB962C8B-B14F-4D97-AF65-F5344CB8AC3E}">
        <p14:creationId xmlns:p14="http://schemas.microsoft.com/office/powerpoint/2010/main" val="15242070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a:t>私は，歌い手の調性参照というものを，最初に一度決めたら，あとはずっと同じ場所にあるものとは考えていません。</a:t>
            </a:r>
          </a:p>
          <a:p>
            <a:r>
              <a:rPr lang="ja-JP" altLang="ja-JP"/>
              <a:t>まず歌い始めるときに，何らかの調性参照が</a:t>
            </a:r>
            <a:r>
              <a:rPr lang="ja-JP" altLang="ja-JP" b="1"/>
              <a:t>形成され</a:t>
            </a:r>
            <a:r>
              <a:rPr lang="ja-JP" altLang="en-US" b="1"/>
              <a:t>ます</a:t>
            </a:r>
            <a:r>
              <a:rPr lang="ja-JP" altLang="ja-JP"/>
              <a:t>。</a:t>
            </a:r>
          </a:p>
          <a:p>
            <a:r>
              <a:rPr lang="ja-JP" altLang="ja-JP"/>
              <a:t>そして，その後の歌唱がそのFrameの中で自然に説明できているあいだは，その状態が</a:t>
            </a:r>
            <a:r>
              <a:rPr lang="ja-JP" altLang="ja-JP" b="1"/>
              <a:t>維持され</a:t>
            </a:r>
            <a:r>
              <a:rPr lang="ja-JP" altLang="en-US" b="1"/>
              <a:t>ます</a:t>
            </a:r>
            <a:r>
              <a:rPr lang="ja-JP" altLang="ja-JP"/>
              <a:t>。</a:t>
            </a:r>
          </a:p>
          <a:p>
            <a:r>
              <a:rPr lang="ja-JP" altLang="ja-JP"/>
              <a:t>でも，歌っているうちに，全体が少し高くなったり低くなったりすることがあります。</a:t>
            </a:r>
          </a:p>
          <a:p>
            <a:r>
              <a:rPr lang="ja-JP" altLang="ja-JP"/>
              <a:t>このとき，すぐに「別の調になった」と考えるのではなくて，</a:t>
            </a:r>
            <a:br>
              <a:rPr lang="ja-JP" altLang="ja-JP"/>
            </a:br>
            <a:r>
              <a:rPr lang="ja-JP" altLang="ja-JP"/>
              <a:t>「同じ調性的な関係を保ったまま，基準そのものが少し動いた」と考えることができます。</a:t>
            </a:r>
          </a:p>
          <a:p>
            <a:r>
              <a:rPr lang="ja-JP" altLang="ja-JP"/>
              <a:t>これを</a:t>
            </a:r>
            <a:r>
              <a:rPr lang="ja-JP" altLang="ja-JP" b="1"/>
              <a:t>Adjustment，調整</a:t>
            </a:r>
            <a:r>
              <a:rPr lang="ja-JP" altLang="ja-JP"/>
              <a:t>として扱います。</a:t>
            </a:r>
          </a:p>
          <a:p>
            <a:r>
              <a:rPr lang="ja-JP" altLang="ja-JP"/>
              <a:t>一方で，それまでのFrameでは，もう歌唱をうまく説明できなくなる場合もあります。</a:t>
            </a:r>
          </a:p>
          <a:p>
            <a:r>
              <a:rPr lang="ja-JP" altLang="ja-JP"/>
              <a:t>その場合には，単にFrameをずらし続けるのではなく，新しい調性参照を</a:t>
            </a:r>
            <a:r>
              <a:rPr lang="ja-JP" altLang="ja-JP" b="1"/>
              <a:t>再形成する</a:t>
            </a:r>
            <a:r>
              <a:rPr lang="ja-JP" altLang="ja-JP"/>
              <a:t>。</a:t>
            </a:r>
          </a:p>
          <a:p>
            <a:r>
              <a:rPr lang="ja-JP" altLang="ja-JP"/>
              <a:t>つまり，</a:t>
            </a:r>
          </a:p>
          <a:p>
            <a:r>
              <a:rPr lang="ja-JP" altLang="en-US" b="1"/>
              <a:t>形成、維持、調性、再形成。</a:t>
            </a:r>
            <a:endParaRPr lang="en-US" altLang="ja-JP" b="1" dirty="0"/>
          </a:p>
          <a:p>
            <a:r>
              <a:rPr lang="ja-JP" altLang="ja-JP"/>
              <a:t>この研究で見たいのは，「いま何調なのか」という一点の答えだけではなくて，</a:t>
            </a:r>
            <a:r>
              <a:rPr lang="ja-JP" altLang="ja-JP" b="1"/>
              <a:t>歌い手の調性参照が，時間の中でどのように形成され，維持され，調整され，そして必要なら再形成されるのか</a:t>
            </a:r>
            <a:r>
              <a:rPr lang="ja-JP" altLang="ja-JP"/>
              <a:t>という状態の変化です。</a:t>
            </a:r>
          </a:p>
          <a:p>
            <a:r>
              <a:rPr lang="ja-JP" altLang="ja-JP"/>
              <a:t>これを計算機上で扱えるようにするのが，Dynamic Tonal Perspectiveです。</a:t>
            </a:r>
            <a:endParaRPr lang="en-US" altLang="ja-JP" dirty="0"/>
          </a:p>
          <a:p>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a:t>では，このような状態の変化を，システムの中ではどう扱っているの</a:t>
            </a:r>
            <a:r>
              <a:rPr lang="ja-JP" altLang="en-US"/>
              <a:t>かというと。</a:t>
            </a:r>
            <a:endParaRPr lang="ja-JP" altLang="ja-JP"/>
          </a:p>
        </p:txBody>
      </p:sp>
      <p:sp>
        <p:nvSpPr>
          <p:cNvPr id="4" name="スライド番号プレースホルダー 3"/>
          <p:cNvSpPr>
            <a:spLocks noGrp="1"/>
          </p:cNvSpPr>
          <p:nvPr>
            <p:ph type="sldNum" sz="quarter" idx="5"/>
          </p:nvPr>
        </p:nvSpPr>
        <p:spPr/>
        <p:txBody>
          <a:bodyPr/>
          <a:lstStyle/>
          <a:p>
            <a:fld id="{C41CA453-C282-A848-AE71-D632C00C12CE}" type="slidenum">
              <a:rPr kumimoji="1" lang="ja-JP" altLang="en-US" smtClean="0"/>
              <a:t>5</a:t>
            </a:fld>
            <a:endParaRPr kumimoji="1" lang="ja-JP" altLang="en-US"/>
          </a:p>
        </p:txBody>
      </p:sp>
    </p:spTree>
    <p:extLst>
      <p:ext uri="{BB962C8B-B14F-4D97-AF65-F5344CB8AC3E}">
        <p14:creationId xmlns:p14="http://schemas.microsoft.com/office/powerpoint/2010/main" val="23875304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a:t>[6枚目　システム構成]</a:t>
            </a:r>
          </a:p>
          <a:p>
            <a:r>
              <a:rPr lang="ja-JP" altLang="ja-JP"/>
              <a:t>システムはこのような構成です．</a:t>
            </a:r>
          </a:p>
          <a:p>
            <a:r>
              <a:rPr lang="ja-JP" altLang="ja-JP"/>
              <a:t>まず歌声からPitch Operatorが音高を観測します．</a:t>
            </a:r>
          </a:p>
          <a:p>
            <a:r>
              <a:rPr lang="ja-JP" altLang="ja-JP"/>
              <a:t>ただし，観測されたPitchをそのまま音楽的な音高として扱うのではなく，Pitch Interpreterで時間的な文脈を考慮してInterpreted Pitchへ変換します．</a:t>
            </a:r>
          </a:p>
          <a:p>
            <a:r>
              <a:rPr lang="ja-JP" altLang="ja-JP"/>
              <a:t>その後，Tonality OperatorがRelative Tonal Frameを推定・更新します．</a:t>
            </a:r>
          </a:p>
          <a:p>
            <a:r>
              <a:rPr lang="ja-JP" altLang="ja-JP"/>
              <a:t>Harmony GeneratorはそのFrameを参照して，各声部の音高関係を決定し，Voice Leadingを通して実際のTarget Pitchを決めます．</a:t>
            </a:r>
          </a:p>
          <a:p>
            <a:r>
              <a:rPr lang="ja-JP" altLang="ja-JP"/>
              <a:t>最後に，入力された自分の歌声を複数の声部へ変換して，一人合唱として出力します．</a:t>
            </a:r>
          </a:p>
        </p:txBody>
      </p:sp>
      <p:sp>
        <p:nvSpPr>
          <p:cNvPr id="4" name="スライド番号プレースホルダー 3"/>
          <p:cNvSpPr>
            <a:spLocks noGrp="1"/>
          </p:cNvSpPr>
          <p:nvPr>
            <p:ph type="sldNum" sz="quarter" idx="5"/>
          </p:nvPr>
        </p:nvSpPr>
        <p:spPr/>
        <p:txBody>
          <a:bodyPr/>
          <a:lstStyle/>
          <a:p>
            <a:fld id="{C41CA453-C282-A848-AE71-D632C00C12CE}" type="slidenum">
              <a:rPr kumimoji="1" lang="ja-JP" altLang="en-US" smtClean="0"/>
              <a:t>6</a:t>
            </a:fld>
            <a:endParaRPr kumimoji="1" lang="ja-JP" altLang="en-US"/>
          </a:p>
        </p:txBody>
      </p:sp>
    </p:spTree>
    <p:extLst>
      <p:ext uri="{BB962C8B-B14F-4D97-AF65-F5344CB8AC3E}">
        <p14:creationId xmlns:p14="http://schemas.microsoft.com/office/powerpoint/2010/main" val="17751185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a:t>先ほどの実演では，私が歌うと，その声に合わせて複数の声部がリアルタイムに生成されていました．</a:t>
            </a:r>
          </a:p>
          <a:p>
            <a:r>
              <a:rPr lang="ja-JP" altLang="ja-JP"/>
              <a:t>内部では，まず歌声から音高を観測します．</a:t>
            </a:r>
          </a:p>
          <a:p>
            <a:r>
              <a:rPr lang="ja-JP" altLang="ja-JP"/>
              <a:t>ただし，観測された音高をそのまま音楽的な音として扱うわけではありません．</a:t>
            </a:r>
            <a:br>
              <a:rPr lang="ja-JP" altLang="ja-JP"/>
            </a:br>
            <a:r>
              <a:rPr lang="ja-JP" altLang="ja-JP"/>
              <a:t>Pitch Interpreterで時間的な文脈も見ながら，歌い手がどの音を歌っていると解釈するかを決めます．</a:t>
            </a:r>
          </a:p>
          <a:p>
            <a:r>
              <a:rPr lang="ja-JP" altLang="ja-JP"/>
              <a:t>そこから，現在のRelative Tonal Frameを基準として，その音を相対的なScale Degreeとして解釈します．</a:t>
            </a:r>
          </a:p>
          <a:p>
            <a:r>
              <a:rPr lang="ja-JP" altLang="ja-JP"/>
              <a:t>そしてHarmony Generatorでは，そのRelative Tonal Frameを基準に，和声や対位法，Voice Leadingを考慮して，各生成声部が次に歌うTarget Pitchを決めます．</a:t>
            </a:r>
          </a:p>
          <a:p>
            <a:r>
              <a:rPr lang="ja-JP" altLang="ja-JP"/>
              <a:t>最後に，そのTarget Pitchへ入力された私の歌声を変換して，複数の声部として出力します．</a:t>
            </a:r>
          </a:p>
          <a:p>
            <a:r>
              <a:rPr lang="ja-JP" altLang="ja-JP"/>
              <a:t>つまり，</a:t>
            </a:r>
            <a:r>
              <a:rPr lang="ja-JP" altLang="ja-JP" b="1"/>
              <a:t>私があらかじめ決められたハーモニーに合わせて歌うのではなく，その時点の私の調性参照を基準として，ハーモニーの側が生成される</a:t>
            </a:r>
            <a:r>
              <a:rPr lang="ja-JP" altLang="ja-JP"/>
              <a:t>という仕組みです．</a:t>
            </a:r>
          </a:p>
        </p:txBody>
      </p:sp>
      <p:sp>
        <p:nvSpPr>
          <p:cNvPr id="4" name="スライド番号プレースホルダー 3"/>
          <p:cNvSpPr>
            <a:spLocks noGrp="1"/>
          </p:cNvSpPr>
          <p:nvPr>
            <p:ph type="sldNum" sz="quarter" idx="5"/>
          </p:nvPr>
        </p:nvSpPr>
        <p:spPr/>
        <p:txBody>
          <a:bodyPr/>
          <a:lstStyle/>
          <a:p>
            <a:fld id="{C41CA453-C282-A848-AE71-D632C00C12CE}" type="slidenum">
              <a:rPr kumimoji="1" lang="ja-JP" altLang="en-US" smtClean="0"/>
              <a:t>7</a:t>
            </a:fld>
            <a:endParaRPr kumimoji="1" lang="ja-JP" altLang="en-US"/>
          </a:p>
        </p:txBody>
      </p:sp>
    </p:spTree>
    <p:extLst>
      <p:ext uri="{BB962C8B-B14F-4D97-AF65-F5344CB8AC3E}">
        <p14:creationId xmlns:p14="http://schemas.microsoft.com/office/powerpoint/2010/main" val="25449097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a:t>まとめます．</a:t>
            </a:r>
          </a:p>
          <a:p>
            <a:r>
              <a:rPr lang="ja-JP" altLang="ja-JP"/>
              <a:t>今回の出発点は，とても単純です．</a:t>
            </a:r>
          </a:p>
          <a:p>
            <a:r>
              <a:rPr lang="ja-JP" altLang="ja-JP"/>
              <a:t>歌っている人の調性の基準って，本当にずっと固定されているんだろうか，という疑問でした．</a:t>
            </a:r>
          </a:p>
          <a:p>
            <a:r>
              <a:rPr lang="ja-JP" altLang="ja-JP"/>
              <a:t>そこで，人の中で生じているものをSubjective Tonality，主観的調性感として捉え，それを計算機上で扱うためにRelative Tonal Frameというモデルを置きました．</a:t>
            </a:r>
          </a:p>
          <a:p>
            <a:endParaRPr lang="en-US" altLang="ja-JP" dirty="0"/>
          </a:p>
          <a:p>
            <a:r>
              <a:rPr lang="ja-JP" altLang="ja-JP"/>
              <a:t>【時間がなければ省略】</a:t>
            </a:r>
            <a:br>
              <a:rPr lang="ja-JP" altLang="ja-JP"/>
            </a:br>
            <a:r>
              <a:rPr lang="ja-JP" altLang="ja-JP"/>
              <a:t>そして重要なのは，このFrameを一度決めて終わりにするのではなく，</a:t>
            </a:r>
            <a:r>
              <a:rPr lang="ja-JP" altLang="ja-JP" b="1"/>
              <a:t>歌唱に応じて状態として更新していく</a:t>
            </a:r>
            <a:r>
              <a:rPr lang="ja-JP" altLang="ja-JP"/>
              <a:t>ことです．</a:t>
            </a:r>
          </a:p>
          <a:p>
            <a:endParaRPr lang="en-US" altLang="ja-JP" dirty="0"/>
          </a:p>
          <a:p>
            <a:r>
              <a:rPr lang="ja-JP" altLang="ja-JP"/>
              <a:t>その変化するFrameを基準にHarmony Generatorが複数声部を生成することで，歌い手が決められたハーモニーに合わせるのではなく，</a:t>
            </a:r>
            <a:r>
              <a:rPr lang="ja-JP" altLang="ja-JP" b="1"/>
              <a:t>ハーモニーの方が歌い手についてくる</a:t>
            </a:r>
            <a:r>
              <a:rPr lang="ja-JP" altLang="ja-JP"/>
              <a:t>一人合唱を作ろうとしています．</a:t>
            </a:r>
          </a:p>
          <a:p>
            <a:endParaRPr lang="en-US" altLang="ja-JP" dirty="0"/>
          </a:p>
          <a:p>
            <a:r>
              <a:rPr lang="ja-JP" altLang="ja-JP"/>
              <a:t>【時間がなければ省略】</a:t>
            </a:r>
            <a:br>
              <a:rPr lang="ja-JP" altLang="ja-JP"/>
            </a:br>
            <a:r>
              <a:rPr lang="ja-JP" altLang="ja-JP"/>
              <a:t>この，歌い手自身の調性参照を，時間とともに変化する視点として扱う考え方を，私は</a:t>
            </a:r>
            <a:r>
              <a:rPr lang="ja-JP" altLang="ja-JP" b="1"/>
              <a:t>Dynamic Tonal Perspective，動的調性視</a:t>
            </a:r>
            <a:r>
              <a:rPr lang="ja-JP" altLang="ja-JP"/>
              <a:t>と呼んでいます．</a:t>
            </a:r>
            <a:endParaRPr lang="en-US" altLang="ja-JP" dirty="0"/>
          </a:p>
          <a:p>
            <a:endParaRPr lang="ja-JP" altLang="ja-JP"/>
          </a:p>
          <a:p>
            <a:r>
              <a:rPr lang="ja-JP" altLang="ja-JP"/>
              <a:t>今回はまだPhase 1のプロトタイプですが，この考え方を，実際に歌って，聴いて，体験できるところまで持ってきました．</a:t>
            </a:r>
          </a:p>
          <a:p>
            <a:r>
              <a:rPr lang="ja-JP" altLang="ja-JP" b="1"/>
              <a:t>3日目のデモセッションでは，この一人合唱インタフェースを，みなさんにも実際に歌って体験していただこうと思っています．ぜひ遊びに来てください．</a:t>
            </a:r>
            <a:endParaRPr lang="ja-JP" altLang="ja-JP"/>
          </a:p>
          <a:p>
            <a:r>
              <a:rPr lang="ja-JP" altLang="ja-JP"/>
              <a:t>以上です．ありがとうございました．</a:t>
            </a:r>
          </a:p>
        </p:txBody>
      </p:sp>
      <p:sp>
        <p:nvSpPr>
          <p:cNvPr id="4" name="スライド番号プレースホルダー 3"/>
          <p:cNvSpPr>
            <a:spLocks noGrp="1"/>
          </p:cNvSpPr>
          <p:nvPr>
            <p:ph type="sldNum" sz="quarter" idx="5"/>
          </p:nvPr>
        </p:nvSpPr>
        <p:spPr/>
        <p:txBody>
          <a:bodyPr/>
          <a:lstStyle/>
          <a:p>
            <a:fld id="{C41CA453-C282-A848-AE71-D632C00C12CE}" type="slidenum">
              <a:rPr kumimoji="1" lang="ja-JP" altLang="en-US" smtClean="0"/>
              <a:t>8</a:t>
            </a:fld>
            <a:endParaRPr kumimoji="1" lang="ja-JP" altLang="en-US"/>
          </a:p>
        </p:txBody>
      </p:sp>
    </p:spTree>
    <p:extLst>
      <p:ext uri="{BB962C8B-B14F-4D97-AF65-F5344CB8AC3E}">
        <p14:creationId xmlns:p14="http://schemas.microsoft.com/office/powerpoint/2010/main" val="1455163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ECBF72-92C8-F016-78DA-4FC24E590B09}"/>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F51005D-3725-F2DA-71EA-89C58D2914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C69F3ABA-A4F4-22CD-EC4B-D92003BDE1A7}"/>
              </a:ext>
            </a:extLst>
          </p:cNvPr>
          <p:cNvSpPr>
            <a:spLocks noGrp="1"/>
          </p:cNvSpPr>
          <p:nvPr>
            <p:ph type="dt" sz="half" idx="10"/>
          </p:nvPr>
        </p:nvSpPr>
        <p:spPr/>
        <p:txBody>
          <a:bodyPr/>
          <a:lstStyle/>
          <a:p>
            <a:fld id="{656550A6-3580-8943-B68E-76CA7D86FA70}" type="datetimeFigureOut">
              <a:rPr kumimoji="1" lang="ja-JP" altLang="en-US" smtClean="0"/>
              <a:t>2026/8/31</a:t>
            </a:fld>
            <a:endParaRPr kumimoji="1" lang="ja-JP" altLang="en-US"/>
          </a:p>
        </p:txBody>
      </p:sp>
      <p:sp>
        <p:nvSpPr>
          <p:cNvPr id="5" name="フッター プレースホルダー 4">
            <a:extLst>
              <a:ext uri="{FF2B5EF4-FFF2-40B4-BE49-F238E27FC236}">
                <a16:creationId xmlns:a16="http://schemas.microsoft.com/office/drawing/2014/main" id="{68164C6B-8B1A-6BDD-57CB-A6E524DF0B7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1C90779-6E52-5AE3-1512-89FBE0FD237F}"/>
              </a:ext>
            </a:extLst>
          </p:cNvPr>
          <p:cNvSpPr>
            <a:spLocks noGrp="1"/>
          </p:cNvSpPr>
          <p:nvPr>
            <p:ph type="sldNum" sz="quarter" idx="12"/>
          </p:nvPr>
        </p:nvSpPr>
        <p:spPr/>
        <p:txBody>
          <a:bodyPr/>
          <a:lstStyle/>
          <a:p>
            <a:fld id="{7239A3AD-7D58-D747-B2DA-DFB86ED2F411}" type="slidenum">
              <a:rPr kumimoji="1" lang="ja-JP" altLang="en-US" smtClean="0"/>
              <a:t>‹#›</a:t>
            </a:fld>
            <a:endParaRPr kumimoji="1" lang="ja-JP" altLang="en-US"/>
          </a:p>
        </p:txBody>
      </p:sp>
    </p:spTree>
    <p:extLst>
      <p:ext uri="{BB962C8B-B14F-4D97-AF65-F5344CB8AC3E}">
        <p14:creationId xmlns:p14="http://schemas.microsoft.com/office/powerpoint/2010/main" val="3798771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57F92DE2-FF99-04DA-ED9D-B39324C594D4}"/>
              </a:ext>
            </a:extLst>
          </p:cNvPr>
          <p:cNvSpPr/>
          <p:nvPr userDrawn="1"/>
        </p:nvSpPr>
        <p:spPr>
          <a:xfrm>
            <a:off x="62948" y="136525"/>
            <a:ext cx="1085987" cy="10859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3CD94AD9-5CF0-4441-826B-267BF1C5A272}" type="slidenum">
              <a:rPr kumimoji="1" lang="ja-JP" altLang="en-US" sz="4400" smtClean="0"/>
              <a:t>‹#›</a:t>
            </a:fld>
            <a:endParaRPr kumimoji="1" lang="ja-JP" altLang="en-US" sz="4400"/>
          </a:p>
        </p:txBody>
      </p:sp>
      <p:sp>
        <p:nvSpPr>
          <p:cNvPr id="2" name="タイトル 1">
            <a:extLst>
              <a:ext uri="{FF2B5EF4-FFF2-40B4-BE49-F238E27FC236}">
                <a16:creationId xmlns:a16="http://schemas.microsoft.com/office/drawing/2014/main" id="{F3B820F2-8A14-0491-407C-4F5782F0E742}"/>
              </a:ext>
            </a:extLst>
          </p:cNvPr>
          <p:cNvSpPr>
            <a:spLocks noGrp="1"/>
          </p:cNvSpPr>
          <p:nvPr>
            <p:ph type="title"/>
          </p:nvPr>
        </p:nvSpPr>
        <p:spPr>
          <a:xfrm>
            <a:off x="1148934" y="27195"/>
            <a:ext cx="11043065" cy="1325563"/>
          </a:xfrm>
        </p:spPr>
        <p:txBody>
          <a:bodyPr/>
          <a:lstStyle>
            <a:lvl1pPr>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E53BA01-71EB-4DE5-FF7A-D1222A0B5251}"/>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6CBFD2D-A649-1D7C-4410-DC4FD026DA89}"/>
              </a:ext>
            </a:extLst>
          </p:cNvPr>
          <p:cNvSpPr>
            <a:spLocks noGrp="1"/>
          </p:cNvSpPr>
          <p:nvPr>
            <p:ph type="dt" sz="half" idx="10"/>
          </p:nvPr>
        </p:nvSpPr>
        <p:spPr/>
        <p:txBody>
          <a:bodyPr/>
          <a:lstStyle/>
          <a:p>
            <a:fld id="{656550A6-3580-8943-B68E-76CA7D86FA70}" type="datetimeFigureOut">
              <a:rPr kumimoji="1" lang="ja-JP" altLang="en-US" smtClean="0"/>
              <a:t>2026/8/31</a:t>
            </a:fld>
            <a:endParaRPr kumimoji="1" lang="ja-JP" altLang="en-US"/>
          </a:p>
        </p:txBody>
      </p:sp>
      <p:sp>
        <p:nvSpPr>
          <p:cNvPr id="5" name="フッター プレースホルダー 4">
            <a:extLst>
              <a:ext uri="{FF2B5EF4-FFF2-40B4-BE49-F238E27FC236}">
                <a16:creationId xmlns:a16="http://schemas.microsoft.com/office/drawing/2014/main" id="{F3094579-4C3C-15A1-E8C4-21876520E43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B422F69-DFCE-B6F0-FE3A-06EB4F4F1C04}"/>
              </a:ext>
            </a:extLst>
          </p:cNvPr>
          <p:cNvSpPr>
            <a:spLocks noGrp="1"/>
          </p:cNvSpPr>
          <p:nvPr>
            <p:ph type="sldNum" sz="quarter" idx="12"/>
          </p:nvPr>
        </p:nvSpPr>
        <p:spPr/>
        <p:txBody>
          <a:bodyPr/>
          <a:lstStyle/>
          <a:p>
            <a:fld id="{7239A3AD-7D58-D747-B2DA-DFB86ED2F411}" type="slidenum">
              <a:rPr kumimoji="1" lang="ja-JP" altLang="en-US" smtClean="0"/>
              <a:t>‹#›</a:t>
            </a:fld>
            <a:endParaRPr kumimoji="1" lang="ja-JP" altLang="en-US"/>
          </a:p>
        </p:txBody>
      </p:sp>
    </p:spTree>
    <p:extLst>
      <p:ext uri="{BB962C8B-B14F-4D97-AF65-F5344CB8AC3E}">
        <p14:creationId xmlns:p14="http://schemas.microsoft.com/office/powerpoint/2010/main" val="1483573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41652DD-2D30-0471-81D7-AE722440F1BF}"/>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614AC84-0082-4C4B-EC36-4BB97543746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6409B042-0880-ACB1-69CF-88D085DE3A17}"/>
              </a:ext>
            </a:extLst>
          </p:cNvPr>
          <p:cNvSpPr>
            <a:spLocks noGrp="1"/>
          </p:cNvSpPr>
          <p:nvPr>
            <p:ph type="dt" sz="half" idx="10"/>
          </p:nvPr>
        </p:nvSpPr>
        <p:spPr/>
        <p:txBody>
          <a:bodyPr/>
          <a:lstStyle/>
          <a:p>
            <a:fld id="{656550A6-3580-8943-B68E-76CA7D86FA70}" type="datetimeFigureOut">
              <a:rPr kumimoji="1" lang="ja-JP" altLang="en-US" smtClean="0"/>
              <a:t>2026/8/31</a:t>
            </a:fld>
            <a:endParaRPr kumimoji="1" lang="ja-JP" altLang="en-US"/>
          </a:p>
        </p:txBody>
      </p:sp>
      <p:sp>
        <p:nvSpPr>
          <p:cNvPr id="5" name="フッター プレースホルダー 4">
            <a:extLst>
              <a:ext uri="{FF2B5EF4-FFF2-40B4-BE49-F238E27FC236}">
                <a16:creationId xmlns:a16="http://schemas.microsoft.com/office/drawing/2014/main" id="{BE329B4E-20FB-AF49-56B2-56E894F7A0F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95C0F66-08F9-9558-4975-4782890BED24}"/>
              </a:ext>
            </a:extLst>
          </p:cNvPr>
          <p:cNvSpPr>
            <a:spLocks noGrp="1"/>
          </p:cNvSpPr>
          <p:nvPr>
            <p:ph type="sldNum" sz="quarter" idx="12"/>
          </p:nvPr>
        </p:nvSpPr>
        <p:spPr/>
        <p:txBody>
          <a:bodyPr/>
          <a:lstStyle/>
          <a:p>
            <a:fld id="{7239A3AD-7D58-D747-B2DA-DFB86ED2F411}" type="slidenum">
              <a:rPr kumimoji="1" lang="ja-JP" altLang="en-US" smtClean="0"/>
              <a:t>‹#›</a:t>
            </a:fld>
            <a:endParaRPr kumimoji="1" lang="ja-JP" altLang="en-US"/>
          </a:p>
        </p:txBody>
      </p:sp>
    </p:spTree>
    <p:extLst>
      <p:ext uri="{BB962C8B-B14F-4D97-AF65-F5344CB8AC3E}">
        <p14:creationId xmlns:p14="http://schemas.microsoft.com/office/powerpoint/2010/main" val="22049127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321D16-AA6F-8466-ABC0-4F6E37D107F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A67EA17-84E5-65B8-34D7-290640C48498}"/>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20F2388B-11D8-B8C4-8A46-2FF0A2C40AF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325FE522-D19C-D645-CE23-62E9413F2DC8}"/>
              </a:ext>
            </a:extLst>
          </p:cNvPr>
          <p:cNvSpPr>
            <a:spLocks noGrp="1"/>
          </p:cNvSpPr>
          <p:nvPr>
            <p:ph type="dt" sz="half" idx="10"/>
          </p:nvPr>
        </p:nvSpPr>
        <p:spPr/>
        <p:txBody>
          <a:bodyPr/>
          <a:lstStyle/>
          <a:p>
            <a:fld id="{656550A6-3580-8943-B68E-76CA7D86FA70}" type="datetimeFigureOut">
              <a:rPr kumimoji="1" lang="ja-JP" altLang="en-US" smtClean="0"/>
              <a:t>2026/8/31</a:t>
            </a:fld>
            <a:endParaRPr kumimoji="1" lang="ja-JP" altLang="en-US"/>
          </a:p>
        </p:txBody>
      </p:sp>
      <p:sp>
        <p:nvSpPr>
          <p:cNvPr id="6" name="フッター プレースホルダー 5">
            <a:extLst>
              <a:ext uri="{FF2B5EF4-FFF2-40B4-BE49-F238E27FC236}">
                <a16:creationId xmlns:a16="http://schemas.microsoft.com/office/drawing/2014/main" id="{F73FC225-02DC-3AE2-985D-21212E44AE5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9AE88DC-1234-17DA-5C3F-7FA2B123234D}"/>
              </a:ext>
            </a:extLst>
          </p:cNvPr>
          <p:cNvSpPr>
            <a:spLocks noGrp="1"/>
          </p:cNvSpPr>
          <p:nvPr>
            <p:ph type="sldNum" sz="quarter" idx="12"/>
          </p:nvPr>
        </p:nvSpPr>
        <p:spPr/>
        <p:txBody>
          <a:bodyPr/>
          <a:lstStyle/>
          <a:p>
            <a:fld id="{7239A3AD-7D58-D747-B2DA-DFB86ED2F411}" type="slidenum">
              <a:rPr kumimoji="1" lang="ja-JP" altLang="en-US" smtClean="0"/>
              <a:t>‹#›</a:t>
            </a:fld>
            <a:endParaRPr kumimoji="1" lang="ja-JP" altLang="en-US"/>
          </a:p>
        </p:txBody>
      </p:sp>
    </p:spTree>
    <p:extLst>
      <p:ext uri="{BB962C8B-B14F-4D97-AF65-F5344CB8AC3E}">
        <p14:creationId xmlns:p14="http://schemas.microsoft.com/office/powerpoint/2010/main" val="19096446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91500E4-599C-6D0D-00A8-4A7B726DB626}"/>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58A3E55-53E2-2C38-B220-1A693F3C13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A5BD76A0-6DF3-B746-5488-8E1F3C16D9ED}"/>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202B5984-C79B-736D-EC4E-BC356FF03F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69DA7A1B-55E9-9976-DBC2-813A72E5B0F3}"/>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89BC97C8-EABB-6EFA-6FCB-81366BEDF05F}"/>
              </a:ext>
            </a:extLst>
          </p:cNvPr>
          <p:cNvSpPr>
            <a:spLocks noGrp="1"/>
          </p:cNvSpPr>
          <p:nvPr>
            <p:ph type="dt" sz="half" idx="10"/>
          </p:nvPr>
        </p:nvSpPr>
        <p:spPr/>
        <p:txBody>
          <a:bodyPr/>
          <a:lstStyle/>
          <a:p>
            <a:fld id="{656550A6-3580-8943-B68E-76CA7D86FA70}" type="datetimeFigureOut">
              <a:rPr kumimoji="1" lang="ja-JP" altLang="en-US" smtClean="0"/>
              <a:t>2026/8/31</a:t>
            </a:fld>
            <a:endParaRPr kumimoji="1" lang="ja-JP" altLang="en-US"/>
          </a:p>
        </p:txBody>
      </p:sp>
      <p:sp>
        <p:nvSpPr>
          <p:cNvPr id="8" name="フッター プレースホルダー 7">
            <a:extLst>
              <a:ext uri="{FF2B5EF4-FFF2-40B4-BE49-F238E27FC236}">
                <a16:creationId xmlns:a16="http://schemas.microsoft.com/office/drawing/2014/main" id="{4DD5C827-761D-E2A3-DAE6-569F4482C9B3}"/>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4EC22DA-2EF2-751E-9DE0-F193FCA35733}"/>
              </a:ext>
            </a:extLst>
          </p:cNvPr>
          <p:cNvSpPr>
            <a:spLocks noGrp="1"/>
          </p:cNvSpPr>
          <p:nvPr>
            <p:ph type="sldNum" sz="quarter" idx="12"/>
          </p:nvPr>
        </p:nvSpPr>
        <p:spPr/>
        <p:txBody>
          <a:bodyPr/>
          <a:lstStyle/>
          <a:p>
            <a:fld id="{7239A3AD-7D58-D747-B2DA-DFB86ED2F411}" type="slidenum">
              <a:rPr kumimoji="1" lang="ja-JP" altLang="en-US" smtClean="0"/>
              <a:t>‹#›</a:t>
            </a:fld>
            <a:endParaRPr kumimoji="1" lang="ja-JP" altLang="en-US"/>
          </a:p>
        </p:txBody>
      </p:sp>
    </p:spTree>
    <p:extLst>
      <p:ext uri="{BB962C8B-B14F-4D97-AF65-F5344CB8AC3E}">
        <p14:creationId xmlns:p14="http://schemas.microsoft.com/office/powerpoint/2010/main" val="1716461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5104FB-A161-468B-CA1E-522F40F9C023}"/>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A18043A8-B371-9140-DBF0-3E02B7444AE6}"/>
              </a:ext>
            </a:extLst>
          </p:cNvPr>
          <p:cNvSpPr>
            <a:spLocks noGrp="1"/>
          </p:cNvSpPr>
          <p:nvPr>
            <p:ph type="dt" sz="half" idx="10"/>
          </p:nvPr>
        </p:nvSpPr>
        <p:spPr/>
        <p:txBody>
          <a:bodyPr/>
          <a:lstStyle/>
          <a:p>
            <a:fld id="{656550A6-3580-8943-B68E-76CA7D86FA70}" type="datetimeFigureOut">
              <a:rPr kumimoji="1" lang="ja-JP" altLang="en-US" smtClean="0"/>
              <a:t>2026/8/31</a:t>
            </a:fld>
            <a:endParaRPr kumimoji="1" lang="ja-JP" altLang="en-US"/>
          </a:p>
        </p:txBody>
      </p:sp>
      <p:sp>
        <p:nvSpPr>
          <p:cNvPr id="4" name="フッター プレースホルダー 3">
            <a:extLst>
              <a:ext uri="{FF2B5EF4-FFF2-40B4-BE49-F238E27FC236}">
                <a16:creationId xmlns:a16="http://schemas.microsoft.com/office/drawing/2014/main" id="{6AE3F139-5445-A086-C80C-E6EDA0FDDB3D}"/>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13185C12-ACF7-7458-0D1A-CD81381F54B0}"/>
              </a:ext>
            </a:extLst>
          </p:cNvPr>
          <p:cNvSpPr>
            <a:spLocks noGrp="1"/>
          </p:cNvSpPr>
          <p:nvPr>
            <p:ph type="sldNum" sz="quarter" idx="12"/>
          </p:nvPr>
        </p:nvSpPr>
        <p:spPr/>
        <p:txBody>
          <a:bodyPr/>
          <a:lstStyle/>
          <a:p>
            <a:fld id="{7239A3AD-7D58-D747-B2DA-DFB86ED2F411}" type="slidenum">
              <a:rPr kumimoji="1" lang="ja-JP" altLang="en-US" smtClean="0"/>
              <a:t>‹#›</a:t>
            </a:fld>
            <a:endParaRPr kumimoji="1" lang="ja-JP" altLang="en-US"/>
          </a:p>
        </p:txBody>
      </p:sp>
    </p:spTree>
    <p:extLst>
      <p:ext uri="{BB962C8B-B14F-4D97-AF65-F5344CB8AC3E}">
        <p14:creationId xmlns:p14="http://schemas.microsoft.com/office/powerpoint/2010/main" val="259006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61ECCF7-D227-A598-00A0-B309B87ED38F}"/>
              </a:ext>
            </a:extLst>
          </p:cNvPr>
          <p:cNvSpPr>
            <a:spLocks noGrp="1"/>
          </p:cNvSpPr>
          <p:nvPr>
            <p:ph type="dt" sz="half" idx="10"/>
          </p:nvPr>
        </p:nvSpPr>
        <p:spPr/>
        <p:txBody>
          <a:bodyPr/>
          <a:lstStyle/>
          <a:p>
            <a:fld id="{656550A6-3580-8943-B68E-76CA7D86FA70}" type="datetimeFigureOut">
              <a:rPr kumimoji="1" lang="ja-JP" altLang="en-US" smtClean="0"/>
              <a:t>2026/8/31</a:t>
            </a:fld>
            <a:endParaRPr kumimoji="1" lang="ja-JP" altLang="en-US"/>
          </a:p>
        </p:txBody>
      </p:sp>
      <p:sp>
        <p:nvSpPr>
          <p:cNvPr id="3" name="フッター プレースホルダー 2">
            <a:extLst>
              <a:ext uri="{FF2B5EF4-FFF2-40B4-BE49-F238E27FC236}">
                <a16:creationId xmlns:a16="http://schemas.microsoft.com/office/drawing/2014/main" id="{50B696A4-210E-2074-446B-D333BC9CD850}"/>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E19E8C7-136C-F484-8F80-9EEE891EB2CB}"/>
              </a:ext>
            </a:extLst>
          </p:cNvPr>
          <p:cNvSpPr>
            <a:spLocks noGrp="1"/>
          </p:cNvSpPr>
          <p:nvPr>
            <p:ph type="sldNum" sz="quarter" idx="12"/>
          </p:nvPr>
        </p:nvSpPr>
        <p:spPr/>
        <p:txBody>
          <a:bodyPr/>
          <a:lstStyle/>
          <a:p>
            <a:fld id="{7239A3AD-7D58-D747-B2DA-DFB86ED2F411}" type="slidenum">
              <a:rPr kumimoji="1" lang="ja-JP" altLang="en-US" smtClean="0"/>
              <a:t>‹#›</a:t>
            </a:fld>
            <a:endParaRPr kumimoji="1" lang="ja-JP" altLang="en-US"/>
          </a:p>
        </p:txBody>
      </p:sp>
    </p:spTree>
    <p:extLst>
      <p:ext uri="{BB962C8B-B14F-4D97-AF65-F5344CB8AC3E}">
        <p14:creationId xmlns:p14="http://schemas.microsoft.com/office/powerpoint/2010/main" val="3563761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FC59F6-350B-4AF0-A714-D8CF31491E4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0B1F745-6531-1D7F-279F-5658826B9AC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CE7961F-CE0F-E830-DE0C-DB590B947F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0D90688-EF2E-A630-2549-BEF8460F4749}"/>
              </a:ext>
            </a:extLst>
          </p:cNvPr>
          <p:cNvSpPr>
            <a:spLocks noGrp="1"/>
          </p:cNvSpPr>
          <p:nvPr>
            <p:ph type="dt" sz="half" idx="10"/>
          </p:nvPr>
        </p:nvSpPr>
        <p:spPr/>
        <p:txBody>
          <a:bodyPr/>
          <a:lstStyle/>
          <a:p>
            <a:fld id="{656550A6-3580-8943-B68E-76CA7D86FA70}" type="datetimeFigureOut">
              <a:rPr kumimoji="1" lang="ja-JP" altLang="en-US" smtClean="0"/>
              <a:t>2026/8/31</a:t>
            </a:fld>
            <a:endParaRPr kumimoji="1" lang="ja-JP" altLang="en-US"/>
          </a:p>
        </p:txBody>
      </p:sp>
      <p:sp>
        <p:nvSpPr>
          <p:cNvPr id="6" name="フッター プレースホルダー 5">
            <a:extLst>
              <a:ext uri="{FF2B5EF4-FFF2-40B4-BE49-F238E27FC236}">
                <a16:creationId xmlns:a16="http://schemas.microsoft.com/office/drawing/2014/main" id="{5D008462-B9ED-6110-8205-DAD00317E44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24BDA70-6DCE-7886-9903-AAA897507BD8}"/>
              </a:ext>
            </a:extLst>
          </p:cNvPr>
          <p:cNvSpPr>
            <a:spLocks noGrp="1"/>
          </p:cNvSpPr>
          <p:nvPr>
            <p:ph type="sldNum" sz="quarter" idx="12"/>
          </p:nvPr>
        </p:nvSpPr>
        <p:spPr/>
        <p:txBody>
          <a:bodyPr/>
          <a:lstStyle/>
          <a:p>
            <a:fld id="{7239A3AD-7D58-D747-B2DA-DFB86ED2F411}" type="slidenum">
              <a:rPr kumimoji="1" lang="ja-JP" altLang="en-US" smtClean="0"/>
              <a:t>‹#›</a:t>
            </a:fld>
            <a:endParaRPr kumimoji="1" lang="ja-JP" altLang="en-US"/>
          </a:p>
        </p:txBody>
      </p:sp>
    </p:spTree>
    <p:extLst>
      <p:ext uri="{BB962C8B-B14F-4D97-AF65-F5344CB8AC3E}">
        <p14:creationId xmlns:p14="http://schemas.microsoft.com/office/powerpoint/2010/main" val="25341157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8F3991B-9E34-92F8-64F2-7BF4CE1A71E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B156499F-F147-7E87-C9EC-D2D3093158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22205CD8-61F5-037A-7F49-8C27DF1867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86ECA06-145F-D117-4CA6-9AF326308FC3}"/>
              </a:ext>
            </a:extLst>
          </p:cNvPr>
          <p:cNvSpPr>
            <a:spLocks noGrp="1"/>
          </p:cNvSpPr>
          <p:nvPr>
            <p:ph type="dt" sz="half" idx="10"/>
          </p:nvPr>
        </p:nvSpPr>
        <p:spPr/>
        <p:txBody>
          <a:bodyPr/>
          <a:lstStyle/>
          <a:p>
            <a:fld id="{656550A6-3580-8943-B68E-76CA7D86FA70}" type="datetimeFigureOut">
              <a:rPr kumimoji="1" lang="ja-JP" altLang="en-US" smtClean="0"/>
              <a:t>2026/8/31</a:t>
            </a:fld>
            <a:endParaRPr kumimoji="1" lang="ja-JP" altLang="en-US"/>
          </a:p>
        </p:txBody>
      </p:sp>
      <p:sp>
        <p:nvSpPr>
          <p:cNvPr id="6" name="フッター プレースホルダー 5">
            <a:extLst>
              <a:ext uri="{FF2B5EF4-FFF2-40B4-BE49-F238E27FC236}">
                <a16:creationId xmlns:a16="http://schemas.microsoft.com/office/drawing/2014/main" id="{6D2951A2-4A56-4D34-69AF-C03089833A5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EB24260-AAE4-1F40-4437-630C0993B453}"/>
              </a:ext>
            </a:extLst>
          </p:cNvPr>
          <p:cNvSpPr>
            <a:spLocks noGrp="1"/>
          </p:cNvSpPr>
          <p:nvPr>
            <p:ph type="sldNum" sz="quarter" idx="12"/>
          </p:nvPr>
        </p:nvSpPr>
        <p:spPr/>
        <p:txBody>
          <a:bodyPr/>
          <a:lstStyle/>
          <a:p>
            <a:fld id="{7239A3AD-7D58-D747-B2DA-DFB86ED2F411}" type="slidenum">
              <a:rPr kumimoji="1" lang="ja-JP" altLang="en-US" smtClean="0"/>
              <a:t>‹#›</a:t>
            </a:fld>
            <a:endParaRPr kumimoji="1" lang="ja-JP" altLang="en-US"/>
          </a:p>
        </p:txBody>
      </p:sp>
    </p:spTree>
    <p:extLst>
      <p:ext uri="{BB962C8B-B14F-4D97-AF65-F5344CB8AC3E}">
        <p14:creationId xmlns:p14="http://schemas.microsoft.com/office/powerpoint/2010/main" val="1549484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AA896D2-BA45-8EDE-6C90-03797AF26CC8}"/>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5BC6252-7F44-0105-6664-6A12648CF2A4}"/>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919254F-A59F-92BD-D5C9-365D15C2F2C0}"/>
              </a:ext>
            </a:extLst>
          </p:cNvPr>
          <p:cNvSpPr>
            <a:spLocks noGrp="1"/>
          </p:cNvSpPr>
          <p:nvPr>
            <p:ph type="dt" sz="half" idx="10"/>
          </p:nvPr>
        </p:nvSpPr>
        <p:spPr/>
        <p:txBody>
          <a:bodyPr/>
          <a:lstStyle/>
          <a:p>
            <a:fld id="{656550A6-3580-8943-B68E-76CA7D86FA70}" type="datetimeFigureOut">
              <a:rPr kumimoji="1" lang="ja-JP" altLang="en-US" smtClean="0"/>
              <a:t>2026/8/31</a:t>
            </a:fld>
            <a:endParaRPr kumimoji="1" lang="ja-JP" altLang="en-US"/>
          </a:p>
        </p:txBody>
      </p:sp>
      <p:sp>
        <p:nvSpPr>
          <p:cNvPr id="5" name="フッター プレースホルダー 4">
            <a:extLst>
              <a:ext uri="{FF2B5EF4-FFF2-40B4-BE49-F238E27FC236}">
                <a16:creationId xmlns:a16="http://schemas.microsoft.com/office/drawing/2014/main" id="{A7FCD12F-77E1-9C51-F941-E921846666A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6B31BC5-A8CA-64D2-06C1-C4D0AC5B9405}"/>
              </a:ext>
            </a:extLst>
          </p:cNvPr>
          <p:cNvSpPr>
            <a:spLocks noGrp="1"/>
          </p:cNvSpPr>
          <p:nvPr>
            <p:ph type="sldNum" sz="quarter" idx="12"/>
          </p:nvPr>
        </p:nvSpPr>
        <p:spPr/>
        <p:txBody>
          <a:bodyPr/>
          <a:lstStyle/>
          <a:p>
            <a:fld id="{7239A3AD-7D58-D747-B2DA-DFB86ED2F411}" type="slidenum">
              <a:rPr kumimoji="1" lang="ja-JP" altLang="en-US" smtClean="0"/>
              <a:t>‹#›</a:t>
            </a:fld>
            <a:endParaRPr kumimoji="1" lang="ja-JP" altLang="en-US"/>
          </a:p>
        </p:txBody>
      </p:sp>
    </p:spTree>
    <p:extLst>
      <p:ext uri="{BB962C8B-B14F-4D97-AF65-F5344CB8AC3E}">
        <p14:creationId xmlns:p14="http://schemas.microsoft.com/office/powerpoint/2010/main" val="12317587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F48D436C-E6EB-623F-CD3A-7EBE65C66E8D}"/>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F6D24A2-B6F1-D527-D4EE-EAD0BA5C42F8}"/>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23F4E37-00D1-FEF2-D03F-695BE81544A0}"/>
              </a:ext>
            </a:extLst>
          </p:cNvPr>
          <p:cNvSpPr>
            <a:spLocks noGrp="1"/>
          </p:cNvSpPr>
          <p:nvPr>
            <p:ph type="dt" sz="half" idx="10"/>
          </p:nvPr>
        </p:nvSpPr>
        <p:spPr/>
        <p:txBody>
          <a:bodyPr/>
          <a:lstStyle/>
          <a:p>
            <a:fld id="{656550A6-3580-8943-B68E-76CA7D86FA70}" type="datetimeFigureOut">
              <a:rPr kumimoji="1" lang="ja-JP" altLang="en-US" smtClean="0"/>
              <a:t>2026/8/31</a:t>
            </a:fld>
            <a:endParaRPr kumimoji="1" lang="ja-JP" altLang="en-US"/>
          </a:p>
        </p:txBody>
      </p:sp>
      <p:sp>
        <p:nvSpPr>
          <p:cNvPr id="5" name="フッター プレースホルダー 4">
            <a:extLst>
              <a:ext uri="{FF2B5EF4-FFF2-40B4-BE49-F238E27FC236}">
                <a16:creationId xmlns:a16="http://schemas.microsoft.com/office/drawing/2014/main" id="{9329C010-8BEF-9830-CFA4-B0FEC491EAA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1D534C0-F67F-6130-7B34-2C8B458D30F2}"/>
              </a:ext>
            </a:extLst>
          </p:cNvPr>
          <p:cNvSpPr>
            <a:spLocks noGrp="1"/>
          </p:cNvSpPr>
          <p:nvPr>
            <p:ph type="sldNum" sz="quarter" idx="12"/>
          </p:nvPr>
        </p:nvSpPr>
        <p:spPr/>
        <p:txBody>
          <a:bodyPr/>
          <a:lstStyle/>
          <a:p>
            <a:fld id="{7239A3AD-7D58-D747-B2DA-DFB86ED2F411}" type="slidenum">
              <a:rPr kumimoji="1" lang="ja-JP" altLang="en-US" smtClean="0"/>
              <a:t>‹#›</a:t>
            </a:fld>
            <a:endParaRPr kumimoji="1" lang="ja-JP" altLang="en-US"/>
          </a:p>
        </p:txBody>
      </p:sp>
    </p:spTree>
    <p:extLst>
      <p:ext uri="{BB962C8B-B14F-4D97-AF65-F5344CB8AC3E}">
        <p14:creationId xmlns:p14="http://schemas.microsoft.com/office/powerpoint/2010/main" val="789502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239CFDB7-3445-86CC-A221-ADB311BE97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9FA7A5D-B2A4-55E1-41DA-F9656B3A34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79A99AE-BE3E-D632-F423-E51BD86346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56550A6-3580-8943-B68E-76CA7D86FA70}" type="datetimeFigureOut">
              <a:rPr kumimoji="1" lang="ja-JP" altLang="en-US" smtClean="0"/>
              <a:t>2026/8/31</a:t>
            </a:fld>
            <a:endParaRPr kumimoji="1" lang="ja-JP" altLang="en-US"/>
          </a:p>
        </p:txBody>
      </p:sp>
      <p:sp>
        <p:nvSpPr>
          <p:cNvPr id="5" name="フッター プレースホルダー 4">
            <a:extLst>
              <a:ext uri="{FF2B5EF4-FFF2-40B4-BE49-F238E27FC236}">
                <a16:creationId xmlns:a16="http://schemas.microsoft.com/office/drawing/2014/main" id="{4E902B24-3851-B5E2-AD9C-94A67BC30FA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7567318-7F31-F36A-470D-EC4831B499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239A3AD-7D58-D747-B2DA-DFB86ED2F411}" type="slidenum">
              <a:rPr kumimoji="1" lang="ja-JP" altLang="en-US" smtClean="0"/>
              <a:t>‹#›</a:t>
            </a:fld>
            <a:endParaRPr kumimoji="1" lang="ja-JP" altLang="en-US"/>
          </a:p>
        </p:txBody>
      </p:sp>
    </p:spTree>
    <p:extLst>
      <p:ext uri="{BB962C8B-B14F-4D97-AF65-F5344CB8AC3E}">
        <p14:creationId xmlns:p14="http://schemas.microsoft.com/office/powerpoint/2010/main" val="17542439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7EB7589E-C296-9C45-8248-0A0A62542AF8}"/>
              </a:ext>
            </a:extLst>
          </p:cNvPr>
          <p:cNvPicPr>
            <a:picLocks noChangeAspect="1"/>
          </p:cNvPicPr>
          <p:nvPr/>
        </p:nvPicPr>
        <p:blipFill>
          <a:blip r:embed="rId3"/>
          <a:stretch>
            <a:fillRect/>
          </a:stretch>
        </p:blipFill>
        <p:spPr>
          <a:xfrm>
            <a:off x="-6488" y="0"/>
            <a:ext cx="12198488" cy="6858000"/>
          </a:xfrm>
          <a:prstGeom prst="rect">
            <a:avLst/>
          </a:prstGeom>
        </p:spPr>
      </p:pic>
      <p:sp>
        <p:nvSpPr>
          <p:cNvPr id="2" name="タイトル 1">
            <a:extLst>
              <a:ext uri="{FF2B5EF4-FFF2-40B4-BE49-F238E27FC236}">
                <a16:creationId xmlns:a16="http://schemas.microsoft.com/office/drawing/2014/main" id="{2E1B2155-19A8-A2D4-06F0-A8E27B9085B8}"/>
              </a:ext>
            </a:extLst>
          </p:cNvPr>
          <p:cNvSpPr>
            <a:spLocks noGrp="1"/>
          </p:cNvSpPr>
          <p:nvPr>
            <p:ph type="ctrTitle"/>
          </p:nvPr>
        </p:nvSpPr>
        <p:spPr>
          <a:xfrm>
            <a:off x="0" y="0"/>
            <a:ext cx="6756400" cy="2387600"/>
          </a:xfrm>
          <a:solidFill>
            <a:schemeClr val="tx2">
              <a:lumMod val="90000"/>
              <a:lumOff val="10000"/>
            </a:schemeClr>
          </a:solidFill>
        </p:spPr>
        <p:txBody>
          <a:bodyPr anchor="ctr">
            <a:normAutofit/>
          </a:bodyPr>
          <a:lstStyle/>
          <a:p>
            <a:r>
              <a:rPr lang="ja-JP" altLang="ja-JP" b="1">
                <a:solidFill>
                  <a:schemeClr val="bg1"/>
                </a:solidFill>
                <a:latin typeface="+mn-ea"/>
                <a:ea typeface="+mn-ea"/>
              </a:rPr>
              <a:t>動的調性視</a:t>
            </a:r>
            <a:br>
              <a:rPr lang="en-US" altLang="ja-JP" b="1" dirty="0">
                <a:solidFill>
                  <a:schemeClr val="bg1"/>
                </a:solidFill>
                <a:latin typeface="+mn-ea"/>
                <a:ea typeface="+mn-ea"/>
              </a:rPr>
            </a:br>
            <a:r>
              <a:rPr lang="ja-JP" altLang="ja-JP" sz="3600">
                <a:solidFill>
                  <a:schemeClr val="bg1"/>
                </a:solidFill>
                <a:latin typeface="Arial" panose="020B0604020202020204" pitchFamily="34" charset="0"/>
                <a:ea typeface="+mn-ea"/>
                <a:cs typeface="Arial" panose="020B0604020202020204" pitchFamily="34" charset="0"/>
              </a:rPr>
              <a:t>Dynamic Tonal Perspective</a:t>
            </a:r>
            <a:endParaRPr kumimoji="1" lang="ja-JP" altLang="en-US" sz="4400">
              <a:solidFill>
                <a:schemeClr val="bg1"/>
              </a:solidFill>
              <a:latin typeface="Arial" panose="020B0604020202020204" pitchFamily="34" charset="0"/>
              <a:ea typeface="+mn-ea"/>
              <a:cs typeface="Arial" panose="020B0604020202020204" pitchFamily="34" charset="0"/>
            </a:endParaRPr>
          </a:p>
        </p:txBody>
      </p:sp>
      <p:sp>
        <p:nvSpPr>
          <p:cNvPr id="5" name="正方形/長方形 4">
            <a:extLst>
              <a:ext uri="{FF2B5EF4-FFF2-40B4-BE49-F238E27FC236}">
                <a16:creationId xmlns:a16="http://schemas.microsoft.com/office/drawing/2014/main" id="{4338FABB-8C49-98DC-8345-E34DBE42291E}"/>
              </a:ext>
            </a:extLst>
          </p:cNvPr>
          <p:cNvSpPr/>
          <p:nvPr/>
        </p:nvSpPr>
        <p:spPr>
          <a:xfrm>
            <a:off x="452063" y="2387600"/>
            <a:ext cx="4767209" cy="6843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6691593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0545015-CFFF-0691-34D1-73323AB1D819}"/>
              </a:ext>
            </a:extLst>
          </p:cNvPr>
          <p:cNvSpPr>
            <a:spLocks noGrp="1"/>
          </p:cNvSpPr>
          <p:nvPr>
            <p:ph type="title"/>
          </p:nvPr>
        </p:nvSpPr>
        <p:spPr/>
        <p:txBody>
          <a:bodyPr>
            <a:normAutofit/>
          </a:bodyPr>
          <a:lstStyle/>
          <a:p>
            <a:r>
              <a:rPr lang="ja-JP" altLang="ja-JP" sz="3600"/>
              <a:t>ハーモニー生成の前提は、固定された調性か？</a:t>
            </a:r>
            <a:br>
              <a:rPr lang="en-US" altLang="ja-JP" sz="3600" dirty="0"/>
            </a:br>
            <a:r>
              <a:rPr lang="ja-JP" altLang="ja-JP" sz="2800" i="1"/>
              <a:t>Is harmony generation based on a fixed tonality?</a:t>
            </a:r>
            <a:endParaRPr kumimoji="1" lang="ja-JP" altLang="en-US" sz="2800"/>
          </a:p>
        </p:txBody>
      </p:sp>
      <p:sp>
        <p:nvSpPr>
          <p:cNvPr id="3" name="コンテンツ プレースホルダー 2">
            <a:extLst>
              <a:ext uri="{FF2B5EF4-FFF2-40B4-BE49-F238E27FC236}">
                <a16:creationId xmlns:a16="http://schemas.microsoft.com/office/drawing/2014/main" id="{6B975168-BA4E-C668-12C2-8866685408FA}"/>
              </a:ext>
            </a:extLst>
          </p:cNvPr>
          <p:cNvSpPr>
            <a:spLocks noGrp="1"/>
          </p:cNvSpPr>
          <p:nvPr>
            <p:ph idx="1"/>
          </p:nvPr>
        </p:nvSpPr>
        <p:spPr/>
        <p:txBody>
          <a:bodyPr>
            <a:normAutofit/>
          </a:bodyPr>
          <a:lstStyle/>
          <a:p>
            <a:r>
              <a:rPr lang="ja-JP" altLang="ja-JP" b="1"/>
              <a:t>従来</a:t>
            </a:r>
            <a:r>
              <a:rPr lang="en-US" altLang="ja-JP" b="1" dirty="0"/>
              <a:t> </a:t>
            </a:r>
            <a:r>
              <a:rPr lang="ja-JP" altLang="ja-JP" b="1"/>
              <a:t> </a:t>
            </a:r>
            <a:r>
              <a:rPr lang="ja-JP" altLang="ja-JP" sz="2400" b="1"/>
              <a:t>Conventional approach</a:t>
            </a:r>
            <a:endParaRPr lang="ja-JP" altLang="ja-JP" b="1"/>
          </a:p>
          <a:p>
            <a:pPr lvl="1"/>
            <a:r>
              <a:rPr lang="ja-JP" altLang="ja-JP" b="1"/>
              <a:t>固定された調性</a:t>
            </a:r>
            <a:r>
              <a:rPr lang="en-US" altLang="ja-JP" b="1" dirty="0"/>
              <a:t> →</a:t>
            </a:r>
            <a:r>
              <a:rPr lang="ja-JP" altLang="ja-JP" b="1"/>
              <a:t>ハーモニー生成</a:t>
            </a:r>
            <a:br>
              <a:rPr lang="ja-JP" altLang="ja-JP"/>
            </a:br>
            <a:r>
              <a:rPr lang="ja-JP" altLang="ja-JP" i="1"/>
              <a:t>Fixed Tonality</a:t>
            </a:r>
            <a:r>
              <a:rPr lang="ja-JP" altLang="en-US" i="1"/>
              <a:t>　　</a:t>
            </a:r>
            <a:r>
              <a:rPr lang="ja-JP" altLang="ja-JP" i="1"/>
              <a:t>Harmony Generation</a:t>
            </a:r>
            <a:endParaRPr lang="ja-JP" altLang="ja-JP"/>
          </a:p>
          <a:p>
            <a:endParaRPr lang="ja-JP" altLang="ja-JP"/>
          </a:p>
          <a:p>
            <a:pPr marL="0" indent="0">
              <a:buNone/>
            </a:pPr>
            <a:r>
              <a:rPr lang="ja-JP" altLang="ja-JP" b="1"/>
              <a:t>歌い手の調性基準は，歌唱中も本当に固定されているのか？</a:t>
            </a:r>
            <a:br>
              <a:rPr lang="ja-JP" altLang="ja-JP"/>
            </a:br>
            <a:r>
              <a:rPr lang="ja-JP" altLang="ja-JP" i="1"/>
              <a:t>Is the singer's tonal reference really fixed during singing?</a:t>
            </a:r>
            <a:endParaRPr lang="ja-JP" altLang="ja-JP"/>
          </a:p>
          <a:p>
            <a:pPr marL="0" indent="0">
              <a:buNone/>
            </a:pPr>
            <a:endParaRPr lang="ja-JP" altLang="ja-JP"/>
          </a:p>
          <a:p>
            <a:r>
              <a:rPr lang="ja-JP" altLang="ja-JP" b="1"/>
              <a:t>本研究 / This Work</a:t>
            </a:r>
            <a:endParaRPr lang="ja-JP" altLang="ja-JP"/>
          </a:p>
          <a:p>
            <a:pPr lvl="1"/>
            <a:r>
              <a:rPr lang="ja-JP" altLang="ja-JP" b="1"/>
              <a:t>歌唱中に変化する調性参照</a:t>
            </a:r>
            <a:r>
              <a:rPr lang="en-US" altLang="ja-JP" b="1" dirty="0"/>
              <a:t>→</a:t>
            </a:r>
            <a:r>
              <a:rPr lang="ja-JP" altLang="ja-JP" b="1"/>
              <a:t>ハーモニー生成</a:t>
            </a:r>
            <a:br>
              <a:rPr lang="ja-JP" altLang="ja-JP"/>
            </a:br>
            <a:r>
              <a:rPr lang="ja-JP" altLang="ja-JP" i="1"/>
              <a:t>Dynamic Tonal Reference</a:t>
            </a:r>
            <a:r>
              <a:rPr lang="ja-JP" altLang="en-US" i="1"/>
              <a:t>　</a:t>
            </a:r>
            <a:r>
              <a:rPr lang="ja-JP" altLang="ja-JP" i="1"/>
              <a:t>Harmony Generation</a:t>
            </a:r>
            <a:endParaRPr lang="ja-JP" altLang="ja-JP"/>
          </a:p>
          <a:p>
            <a:pPr marL="0" indent="0">
              <a:buNone/>
            </a:pPr>
            <a:endParaRPr kumimoji="1" lang="ja-JP" altLang="en-US"/>
          </a:p>
        </p:txBody>
      </p:sp>
      <p:pic>
        <p:nvPicPr>
          <p:cNvPr id="4" name="図 3">
            <a:extLst>
              <a:ext uri="{FF2B5EF4-FFF2-40B4-BE49-F238E27FC236}">
                <a16:creationId xmlns:a16="http://schemas.microsoft.com/office/drawing/2014/main" id="{CC13E1C6-00F3-FF77-818B-D2843C962291}"/>
              </a:ext>
            </a:extLst>
          </p:cNvPr>
          <p:cNvPicPr>
            <a:picLocks noChangeAspect="1"/>
          </p:cNvPicPr>
          <p:nvPr/>
        </p:nvPicPr>
        <p:blipFill>
          <a:blip r:embed="rId3"/>
          <a:stretch>
            <a:fillRect/>
          </a:stretch>
        </p:blipFill>
        <p:spPr>
          <a:xfrm>
            <a:off x="45128" y="27195"/>
            <a:ext cx="12146871" cy="6828982"/>
          </a:xfrm>
          <a:prstGeom prst="rect">
            <a:avLst/>
          </a:prstGeom>
        </p:spPr>
      </p:pic>
    </p:spTree>
    <p:extLst>
      <p:ext uri="{BB962C8B-B14F-4D97-AF65-F5344CB8AC3E}">
        <p14:creationId xmlns:p14="http://schemas.microsoft.com/office/powerpoint/2010/main" val="10848335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5FE0B5-1CE4-0B17-6ABB-6989C58FB406}"/>
              </a:ext>
            </a:extLst>
          </p:cNvPr>
          <p:cNvSpPr>
            <a:spLocks noGrp="1"/>
          </p:cNvSpPr>
          <p:nvPr>
            <p:ph type="title"/>
          </p:nvPr>
        </p:nvSpPr>
        <p:spPr/>
        <p:txBody>
          <a:bodyPr>
            <a:normAutofit/>
          </a:bodyPr>
          <a:lstStyle/>
          <a:p>
            <a:pPr lvl="0">
              <a:tabLst>
                <a:tab pos="2466975" algn="l"/>
              </a:tabLst>
            </a:pPr>
            <a:r>
              <a:rPr lang="ja-JP" altLang="ja-JP" b="1"/>
              <a:t>楽曲の調性から，歌い手の調性参照へ</a:t>
            </a:r>
            <a:br>
              <a:rPr lang="ja-JP" altLang="ja-JP"/>
            </a:br>
            <a:r>
              <a:rPr lang="ja-JP" altLang="ja-JP" sz="3600" i="1"/>
              <a:t>From Musical Tonality to the Singer’s Tonal Reference</a:t>
            </a:r>
            <a:endParaRPr lang="ja-JP" altLang="ja-JP" i="1"/>
          </a:p>
        </p:txBody>
      </p:sp>
      <p:sp>
        <p:nvSpPr>
          <p:cNvPr id="3" name="コンテンツ プレースホルダー 2">
            <a:extLst>
              <a:ext uri="{FF2B5EF4-FFF2-40B4-BE49-F238E27FC236}">
                <a16:creationId xmlns:a16="http://schemas.microsoft.com/office/drawing/2014/main" id="{D615DB96-3684-268E-4CB4-CBCF81CCEDEE}"/>
              </a:ext>
            </a:extLst>
          </p:cNvPr>
          <p:cNvSpPr>
            <a:spLocks noGrp="1"/>
          </p:cNvSpPr>
          <p:nvPr>
            <p:ph idx="1"/>
          </p:nvPr>
        </p:nvSpPr>
        <p:spPr/>
        <p:txBody>
          <a:bodyPr>
            <a:normAutofit fontScale="77500" lnSpcReduction="20000"/>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1" lang="ja-JP" altLang="en-US" sz="2800" kern="1200">
                <a:solidFill>
                  <a:schemeClr val="tx1"/>
                </a:solidFill>
                <a:effectLst/>
                <a:latin typeface="+mn-lt"/>
                <a:ea typeface="+mn-ea"/>
                <a:cs typeface="+mn-cs"/>
              </a:rPr>
              <a:t>従来研究 </a:t>
            </a:r>
            <a:r>
              <a:rPr kumimoji="1" lang="en-US" altLang="ja-JP" sz="2800" kern="1200" dirty="0">
                <a:solidFill>
                  <a:schemeClr val="tx1"/>
                </a:solidFill>
                <a:effectLst/>
                <a:latin typeface="+mn-lt"/>
                <a:ea typeface="+mn-ea"/>
                <a:cs typeface="+mn-cs"/>
              </a:rPr>
              <a:t>/ </a:t>
            </a:r>
            <a:r>
              <a:rPr kumimoji="1" lang="en" altLang="ja-JP" sz="2800" kern="1200" dirty="0">
                <a:solidFill>
                  <a:schemeClr val="tx1"/>
                </a:solidFill>
                <a:effectLst/>
                <a:latin typeface="+mn-lt"/>
                <a:ea typeface="+mn-ea"/>
                <a:cs typeface="+mn-cs"/>
              </a:rPr>
              <a:t>Previous Studies</a:t>
            </a:r>
          </a:p>
          <a:p>
            <a:pPr lvl="1"/>
            <a:r>
              <a:rPr lang="ja-JP" altLang="ja-JP" b="1"/>
              <a:t>楽曲・音響信号から，そこに成立する調や調性構造を推定・記述する</a:t>
            </a:r>
            <a:br>
              <a:rPr lang="ja-JP" altLang="ja-JP"/>
            </a:br>
            <a:r>
              <a:rPr lang="ja-JP" altLang="ja-JP" sz="2000" i="1"/>
              <a:t>Estimating and describing key and tonal structure from music or audio</a:t>
            </a:r>
            <a:endParaRPr lang="ja-JP" altLang="ja-JP" sz="2000"/>
          </a:p>
          <a:p>
            <a:pPr lvl="1"/>
            <a:r>
              <a:rPr lang="ja-JP" altLang="ja-JP" b="1"/>
              <a:t>調性感の時間変化や，入力演奏に適応するリアルタイム和声生成も研究されている</a:t>
            </a:r>
            <a:br>
              <a:rPr lang="en-US" altLang="ja-JP" dirty="0"/>
            </a:br>
            <a:r>
              <a:rPr lang="ja-JP" altLang="ja-JP" sz="1900" i="1"/>
              <a:t>Dynamic tonality modeling and adaptive real-time harmonization have also been studied.</a:t>
            </a:r>
            <a:endParaRPr kumimoji="1" lang="en-US" altLang="ja-JP" sz="1700" kern="1200" dirty="0">
              <a:solidFill>
                <a:schemeClr val="tx1"/>
              </a:solidFill>
              <a:effectLst/>
              <a:latin typeface="+mn-lt"/>
              <a:ea typeface="+mn-ea"/>
              <a:cs typeface="+mn-cs"/>
            </a:endParaRPr>
          </a:p>
          <a:p>
            <a:pPr lvl="1">
              <a:spcBef>
                <a:spcPts val="1000"/>
              </a:spcBef>
            </a:pPr>
            <a:r>
              <a:rPr kumimoji="1" lang="ja-JP" altLang="en-US" sz="2400" kern="1200">
                <a:solidFill>
                  <a:schemeClr val="tx1"/>
                </a:solidFill>
                <a:effectLst/>
                <a:latin typeface="+mn-lt"/>
                <a:ea typeface="+mn-ea"/>
                <a:cs typeface="+mn-cs"/>
              </a:rPr>
              <a:t>楽曲・音響　　</a:t>
            </a:r>
            <a:r>
              <a:rPr kumimoji="1" lang="en-US" altLang="ja-JP" sz="2400" kern="1200" dirty="0">
                <a:solidFill>
                  <a:schemeClr val="tx1"/>
                </a:solidFill>
                <a:effectLst/>
                <a:latin typeface="+mn-lt"/>
                <a:ea typeface="+mn-ea"/>
                <a:cs typeface="+mn-cs"/>
              </a:rPr>
              <a:t>→</a:t>
            </a:r>
            <a:r>
              <a:rPr kumimoji="1" lang="ja-JP" altLang="en-US" sz="2400" kern="1200">
                <a:solidFill>
                  <a:schemeClr val="tx1"/>
                </a:solidFill>
                <a:effectLst/>
                <a:latin typeface="+mn-lt"/>
                <a:ea typeface="+mn-ea"/>
                <a:cs typeface="+mn-cs"/>
              </a:rPr>
              <a:t>　調性・調整の中心・</a:t>
            </a:r>
            <a:r>
              <a:rPr lang="ja-JP" altLang="ja-JP"/>
              <a:t>調性構造</a:t>
            </a:r>
            <a:br>
              <a:rPr kumimoji="1" lang="en-US" altLang="ja-JP" sz="2400" kern="1200" dirty="0">
                <a:solidFill>
                  <a:schemeClr val="tx1"/>
                </a:solidFill>
                <a:effectLst/>
                <a:latin typeface="+mn-lt"/>
                <a:ea typeface="+mn-ea"/>
                <a:cs typeface="+mn-cs"/>
              </a:rPr>
            </a:br>
            <a:r>
              <a:rPr kumimoji="1" lang="en" altLang="ja-JP" sz="2000" kern="1200" dirty="0">
                <a:solidFill>
                  <a:schemeClr val="tx1"/>
                </a:solidFill>
                <a:effectLst/>
                <a:latin typeface="+mn-lt"/>
                <a:ea typeface="+mn-ea"/>
                <a:cs typeface="+mn-cs"/>
              </a:rPr>
              <a:t>Music / Audio</a:t>
            </a:r>
            <a:r>
              <a:rPr kumimoji="1" lang="ja-JP" altLang="en-US" sz="2000" kern="1200">
                <a:solidFill>
                  <a:schemeClr val="tx1"/>
                </a:solidFill>
                <a:effectLst/>
                <a:latin typeface="+mn-lt"/>
                <a:ea typeface="+mn-ea"/>
                <a:cs typeface="+mn-cs"/>
              </a:rPr>
              <a:t>　</a:t>
            </a:r>
            <a:r>
              <a:rPr kumimoji="1" lang="en-US" altLang="ja-JP" sz="2000" kern="1200" dirty="0">
                <a:solidFill>
                  <a:schemeClr val="tx1"/>
                </a:solidFill>
                <a:effectLst/>
                <a:latin typeface="+mn-lt"/>
                <a:ea typeface="+mn-ea"/>
                <a:cs typeface="+mn-cs"/>
              </a:rPr>
              <a:t>→</a:t>
            </a:r>
            <a:r>
              <a:rPr kumimoji="1" lang="ja-JP" altLang="en-US" sz="2000" kern="1200">
                <a:solidFill>
                  <a:schemeClr val="tx1"/>
                </a:solidFill>
                <a:effectLst/>
                <a:latin typeface="+mn-lt"/>
                <a:ea typeface="+mn-ea"/>
                <a:cs typeface="+mn-cs"/>
              </a:rPr>
              <a:t> </a:t>
            </a:r>
            <a:r>
              <a:rPr kumimoji="1" lang="en" altLang="ja-JP" sz="2000" kern="1200" dirty="0">
                <a:solidFill>
                  <a:schemeClr val="tx1"/>
                </a:solidFill>
                <a:effectLst/>
                <a:latin typeface="+mn-lt"/>
                <a:ea typeface="+mn-ea"/>
                <a:cs typeface="+mn-cs"/>
              </a:rPr>
              <a:t>Key / Tonal Center / Tonal Structure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1" lang="ja-JP" altLang="en-US" sz="2800" kern="1200">
                <a:solidFill>
                  <a:schemeClr val="tx1"/>
                </a:solidFill>
                <a:effectLst/>
                <a:latin typeface="+mn-lt"/>
                <a:ea typeface="+mn-ea"/>
                <a:cs typeface="+mn-cs"/>
              </a:rPr>
              <a:t>本研究 </a:t>
            </a:r>
            <a:r>
              <a:rPr kumimoji="1" lang="en-US" altLang="ja-JP" sz="2800" kern="1200" dirty="0">
                <a:solidFill>
                  <a:schemeClr val="tx1"/>
                </a:solidFill>
                <a:effectLst/>
                <a:latin typeface="+mn-lt"/>
                <a:ea typeface="+mn-ea"/>
                <a:cs typeface="+mn-cs"/>
              </a:rPr>
              <a:t>/ </a:t>
            </a:r>
            <a:r>
              <a:rPr kumimoji="1" lang="en" altLang="ja-JP" sz="2800" kern="1200" dirty="0">
                <a:solidFill>
                  <a:schemeClr val="tx1"/>
                </a:solidFill>
                <a:effectLst/>
                <a:latin typeface="+mn-lt"/>
                <a:ea typeface="+mn-ea"/>
                <a:cs typeface="+mn-cs"/>
              </a:rPr>
              <a:t>This Work</a:t>
            </a:r>
          </a:p>
          <a:p>
            <a:pPr lvl="1">
              <a:spcBef>
                <a:spcPts val="1000"/>
              </a:spcBef>
            </a:pPr>
            <a:r>
              <a:rPr lang="ja-JP" altLang="ja-JP" b="1"/>
              <a:t>歌っている本人が，いま，どのような調性参照を持ち，それがどう変化しているのか</a:t>
            </a:r>
            <a:br>
              <a:rPr lang="en-US" altLang="ja-JP" b="1" dirty="0"/>
            </a:br>
            <a:r>
              <a:rPr lang="ja-JP" altLang="ja-JP" i="1"/>
              <a:t>What tonal reference does the singer currently hold, and how does it evolve over time?</a:t>
            </a:r>
            <a:endParaRPr lang="ja-JP" altLang="ja-JP"/>
          </a:p>
          <a:p>
            <a:pPr lvl="1">
              <a:spcBef>
                <a:spcPts val="1000"/>
              </a:spcBef>
            </a:pPr>
            <a:r>
              <a:rPr kumimoji="1" lang="ja-JP" altLang="en-US" sz="2400" kern="1200">
                <a:solidFill>
                  <a:schemeClr val="tx1"/>
                </a:solidFill>
                <a:effectLst/>
                <a:latin typeface="+mn-lt"/>
                <a:ea typeface="+mn-ea"/>
                <a:cs typeface="+mn-cs"/>
              </a:rPr>
              <a:t>歌い手　</a:t>
            </a:r>
            <a:r>
              <a:rPr kumimoji="1" lang="en-US" altLang="ja-JP" sz="2400" kern="1200" dirty="0">
                <a:solidFill>
                  <a:schemeClr val="tx1"/>
                </a:solidFill>
                <a:effectLst/>
                <a:latin typeface="+mn-lt"/>
                <a:ea typeface="+mn-ea"/>
                <a:cs typeface="+mn-cs"/>
              </a:rPr>
              <a:t>→</a:t>
            </a:r>
            <a:r>
              <a:rPr kumimoji="1" lang="ja-JP" altLang="ja-JP" sz="2400" kern="1200">
                <a:solidFill>
                  <a:schemeClr val="tx1"/>
                </a:solidFill>
                <a:effectLst/>
                <a:latin typeface="+mn-lt"/>
                <a:ea typeface="+mn-ea"/>
                <a:cs typeface="+mn-cs"/>
              </a:rPr>
              <a:t>歌唱中の調性参照</a:t>
            </a:r>
            <a:r>
              <a:rPr kumimoji="1" lang="en-US" altLang="ja-JP" sz="2400" kern="1200" dirty="0">
                <a:solidFill>
                  <a:schemeClr val="tx1"/>
                </a:solidFill>
                <a:effectLst/>
                <a:latin typeface="+mn-lt"/>
                <a:ea typeface="+mn-ea"/>
                <a:cs typeface="+mn-cs"/>
              </a:rPr>
              <a:t>→</a:t>
            </a:r>
            <a:r>
              <a:rPr kumimoji="1" lang="ja-JP" altLang="ja-JP" sz="2400" kern="1200">
                <a:solidFill>
                  <a:schemeClr val="tx1"/>
                </a:solidFill>
                <a:effectLst/>
                <a:latin typeface="+mn-lt"/>
                <a:ea typeface="+mn-ea"/>
                <a:cs typeface="+mn-cs"/>
              </a:rPr>
              <a:t>その時間変化</a:t>
            </a:r>
            <a:br>
              <a:rPr kumimoji="1" lang="en-US" altLang="ja-JP" sz="2400" kern="1200" dirty="0">
                <a:solidFill>
                  <a:schemeClr val="tx1"/>
                </a:solidFill>
                <a:effectLst/>
                <a:latin typeface="+mn-lt"/>
                <a:ea typeface="+mn-ea"/>
                <a:cs typeface="+mn-cs"/>
              </a:rPr>
            </a:br>
            <a:r>
              <a:rPr kumimoji="1" lang="en" altLang="ja-JP" sz="2000" kern="1200" dirty="0">
                <a:solidFill>
                  <a:schemeClr val="tx1"/>
                </a:solidFill>
                <a:effectLst/>
                <a:latin typeface="+mn-lt"/>
                <a:ea typeface="+mn-ea"/>
                <a:cs typeface="+mn-cs"/>
              </a:rPr>
              <a:t>Singer</a:t>
            </a:r>
            <a:r>
              <a:rPr kumimoji="1" lang="en-US" altLang="ja-JP" sz="2000" kern="1200" dirty="0">
                <a:solidFill>
                  <a:schemeClr val="tx1"/>
                </a:solidFill>
                <a:effectLst/>
                <a:latin typeface="+mn-lt"/>
                <a:ea typeface="+mn-ea"/>
                <a:cs typeface="+mn-cs"/>
              </a:rPr>
              <a:t>→</a:t>
            </a:r>
            <a:r>
              <a:rPr lang="ja-JP" altLang="ja-JP" sz="2000"/>
              <a:t> </a:t>
            </a:r>
            <a:r>
              <a:rPr kumimoji="1" lang="en" altLang="ja-JP" sz="2000" kern="1200" dirty="0">
                <a:solidFill>
                  <a:schemeClr val="tx1"/>
                </a:solidFill>
                <a:effectLst/>
                <a:latin typeface="+mn-lt"/>
                <a:ea typeface="+mn-ea"/>
                <a:cs typeface="+mn-cs"/>
              </a:rPr>
              <a:t>Tonal Reference during Singing</a:t>
            </a:r>
            <a:r>
              <a:rPr kumimoji="1" lang="en-US" altLang="ja-JP" sz="2000" kern="1200" dirty="0">
                <a:solidFill>
                  <a:schemeClr val="tx1"/>
                </a:solidFill>
                <a:effectLst/>
                <a:latin typeface="+mn-lt"/>
                <a:ea typeface="+mn-ea"/>
                <a:cs typeface="+mn-cs"/>
              </a:rPr>
              <a:t>→</a:t>
            </a:r>
            <a:r>
              <a:rPr lang="ja-JP" altLang="ja-JP" sz="2000"/>
              <a:t> </a:t>
            </a:r>
            <a:r>
              <a:rPr kumimoji="1" lang="en" altLang="ja-JP" sz="2000" kern="1200" dirty="0">
                <a:solidFill>
                  <a:schemeClr val="tx1"/>
                </a:solidFill>
                <a:effectLst/>
                <a:latin typeface="+mn-lt"/>
                <a:ea typeface="+mn-ea"/>
                <a:cs typeface="+mn-cs"/>
              </a:rPr>
              <a:t>Temporal Evolution</a:t>
            </a:r>
          </a:p>
          <a:p>
            <a:r>
              <a:rPr lang="ja-JP" altLang="ja-JP" b="1"/>
              <a:t>歌い手側の主観的な調性参照を「状態」として保持・更新し，Harmony Generationへ反映する</a:t>
            </a:r>
            <a:br>
              <a:rPr lang="en-US" altLang="ja-JP" dirty="0"/>
            </a:br>
            <a:r>
              <a:rPr lang="ja-JP" altLang="ja-JP" i="1"/>
              <a:t>Modeling the singer’s subjective tonal reference as a dynamically updated state for harmony generation</a:t>
            </a:r>
            <a:endParaRPr lang="ja-JP" altLang="ja-JP"/>
          </a:p>
        </p:txBody>
      </p:sp>
      <p:sp>
        <p:nvSpPr>
          <p:cNvPr id="5" name="テキスト ボックス 4">
            <a:extLst>
              <a:ext uri="{FF2B5EF4-FFF2-40B4-BE49-F238E27FC236}">
                <a16:creationId xmlns:a16="http://schemas.microsoft.com/office/drawing/2014/main" id="{85D57B71-E9A9-CC37-0608-565447444B70}"/>
              </a:ext>
            </a:extLst>
          </p:cNvPr>
          <p:cNvSpPr txBox="1"/>
          <p:nvPr/>
        </p:nvSpPr>
        <p:spPr>
          <a:xfrm>
            <a:off x="7483641" y="5842540"/>
            <a:ext cx="4914899" cy="938719"/>
          </a:xfrm>
          <a:prstGeom prst="rect">
            <a:avLst/>
          </a:prstGeom>
          <a:noFill/>
        </p:spPr>
        <p:txBody>
          <a:bodyPr wrap="square">
            <a:spAutoFit/>
          </a:bodyPr>
          <a:lstStyle/>
          <a:p>
            <a:pPr lvl="0"/>
            <a:r>
              <a:rPr lang="ja-JP" altLang="ja-JP" sz="1100"/>
              <a:t>Krumhansl &amp; Kessler — perceived tonal organization</a:t>
            </a:r>
          </a:p>
          <a:p>
            <a:pPr lvl="0"/>
            <a:r>
              <a:rPr lang="ja-JP" altLang="ja-JP" sz="1100"/>
              <a:t>Toiviainen &amp; Krumhansl — dynamic tonality induction</a:t>
            </a:r>
          </a:p>
          <a:p>
            <a:pPr lvl="0"/>
            <a:r>
              <a:rPr lang="ja-JP" altLang="ja-JP" sz="1100"/>
              <a:t>Chew — Spiral Array</a:t>
            </a:r>
          </a:p>
          <a:p>
            <a:pPr lvl="0"/>
            <a:r>
              <a:rPr lang="ja-JP" altLang="ja-JP" sz="1100"/>
              <a:t>Wu et al. — ReaLchords</a:t>
            </a:r>
          </a:p>
          <a:p>
            <a:pPr lvl="0"/>
            <a:r>
              <a:rPr lang="ja-JP" altLang="ja-JP" sz="1100"/>
              <a:t>Blanchard et al. — AI Harmonizer</a:t>
            </a:r>
          </a:p>
        </p:txBody>
      </p:sp>
      <p:pic>
        <p:nvPicPr>
          <p:cNvPr id="4" name="図 3">
            <a:extLst>
              <a:ext uri="{FF2B5EF4-FFF2-40B4-BE49-F238E27FC236}">
                <a16:creationId xmlns:a16="http://schemas.microsoft.com/office/drawing/2014/main" id="{2DE2A911-B5E6-E171-1823-9D445C2E3812}"/>
              </a:ext>
            </a:extLst>
          </p:cNvPr>
          <p:cNvPicPr>
            <a:picLocks noChangeAspect="1"/>
          </p:cNvPicPr>
          <p:nvPr/>
        </p:nvPicPr>
        <p:blipFill>
          <a:blip r:embed="rId3"/>
          <a:stretch>
            <a:fillRect/>
          </a:stretch>
        </p:blipFill>
        <p:spPr>
          <a:xfrm>
            <a:off x="0" y="0"/>
            <a:ext cx="12191999" cy="6854352"/>
          </a:xfrm>
          <a:prstGeom prst="rect">
            <a:avLst/>
          </a:prstGeom>
        </p:spPr>
      </p:pic>
    </p:spTree>
    <p:extLst>
      <p:ext uri="{BB962C8B-B14F-4D97-AF65-F5344CB8AC3E}">
        <p14:creationId xmlns:p14="http://schemas.microsoft.com/office/powerpoint/2010/main" val="2938967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FBD6D37-B453-7409-E60E-CE4CF2F146F3}"/>
              </a:ext>
            </a:extLst>
          </p:cNvPr>
          <p:cNvSpPr>
            <a:spLocks noGrp="1"/>
          </p:cNvSpPr>
          <p:nvPr>
            <p:ph type="title"/>
          </p:nvPr>
        </p:nvSpPr>
        <p:spPr/>
        <p:txBody>
          <a:bodyP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ja-JP" altLang="ja-JP" sz="4000" b="1">
                <a:latin typeface="+mn-ea"/>
                <a:ea typeface="+mn-ea"/>
              </a:rPr>
              <a:t>歌い手の「調性参照」をどう捉えるか</a:t>
            </a:r>
            <a:br>
              <a:rPr lang="ja-JP" altLang="ja-JP" sz="4000">
                <a:latin typeface="+mn-ea"/>
                <a:ea typeface="+mn-ea"/>
              </a:rPr>
            </a:br>
            <a:r>
              <a:rPr lang="ja-JP" altLang="ja-JP" sz="3200" i="1">
                <a:latin typeface="+mn-ea"/>
                <a:ea typeface="+mn-ea"/>
              </a:rPr>
              <a:t>Modeling the Singer’s Tonal Reference</a:t>
            </a:r>
            <a:endParaRPr lang="ja-JP" altLang="ja-JP" sz="3200">
              <a:latin typeface="+mn-ea"/>
              <a:ea typeface="+mn-ea"/>
            </a:endParaRPr>
          </a:p>
        </p:txBody>
      </p:sp>
      <p:pic>
        <p:nvPicPr>
          <p:cNvPr id="7" name="コンテンツ プレースホルダー 6">
            <a:extLst>
              <a:ext uri="{FF2B5EF4-FFF2-40B4-BE49-F238E27FC236}">
                <a16:creationId xmlns:a16="http://schemas.microsoft.com/office/drawing/2014/main" id="{1DE6139B-3AB6-7695-BBDB-B219452C886A}"/>
              </a:ext>
            </a:extLst>
          </p:cNvPr>
          <p:cNvPicPr>
            <a:picLocks noGrp="1" noChangeAspect="1"/>
          </p:cNvPicPr>
          <p:nvPr>
            <p:ph idx="1"/>
          </p:nvPr>
        </p:nvPicPr>
        <p:blipFill>
          <a:blip r:embed="rId3"/>
          <a:stretch>
            <a:fillRect/>
          </a:stretch>
        </p:blipFill>
        <p:spPr>
          <a:xfrm>
            <a:off x="1148934" y="1220048"/>
            <a:ext cx="10082283" cy="5668269"/>
          </a:xfrm>
          <a:prstGeom prst="rect">
            <a:avLst/>
          </a:prstGeom>
        </p:spPr>
      </p:pic>
    </p:spTree>
    <p:extLst>
      <p:ext uri="{BB962C8B-B14F-4D97-AF65-F5344CB8AC3E}">
        <p14:creationId xmlns:p14="http://schemas.microsoft.com/office/powerpoint/2010/main" val="15546691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48E955A-AEC0-06FD-1683-B06FFB5CD5F6}"/>
              </a:ext>
            </a:extLst>
          </p:cNvPr>
          <p:cNvSpPr>
            <a:spLocks noGrp="1"/>
          </p:cNvSpPr>
          <p:nvPr>
            <p:ph type="title"/>
          </p:nvPr>
        </p:nvSpPr>
        <p:spPr/>
        <p:txBody>
          <a:bodyPr>
            <a:normAutofit/>
          </a:bodyPr>
          <a:lstStyle/>
          <a:p>
            <a:r>
              <a:rPr lang="ja-JP" altLang="ja-JP" b="1">
                <a:latin typeface="+mn-lt"/>
                <a:ea typeface="MS PGothic" panose="020B0600070205080204" pitchFamily="34" charset="-128"/>
              </a:rPr>
              <a:t>Relative Tonal Frameはどう動くのか？</a:t>
            </a:r>
            <a:br>
              <a:rPr lang="ja-JP" altLang="ja-JP" b="1">
                <a:latin typeface="+mn-lt"/>
                <a:ea typeface="MS PGothic" panose="020B0600070205080204" pitchFamily="34" charset="-128"/>
              </a:rPr>
            </a:br>
            <a:r>
              <a:rPr lang="ja-JP" altLang="ja-JP" sz="3600" i="1"/>
              <a:t>How does the Relative Tonal Frame evolve over time?</a:t>
            </a:r>
            <a:endParaRPr lang="ja-JP" altLang="ja-JP" sz="3600"/>
          </a:p>
        </p:txBody>
      </p:sp>
      <p:pic>
        <p:nvPicPr>
          <p:cNvPr id="6" name="コンテンツ プレースホルダー 5">
            <a:extLst>
              <a:ext uri="{FF2B5EF4-FFF2-40B4-BE49-F238E27FC236}">
                <a16:creationId xmlns:a16="http://schemas.microsoft.com/office/drawing/2014/main" id="{6CB1BA6B-A057-49DE-348D-417DDB82EA5F}"/>
              </a:ext>
            </a:extLst>
          </p:cNvPr>
          <p:cNvPicPr>
            <a:picLocks noGrp="1" noChangeAspect="1"/>
          </p:cNvPicPr>
          <p:nvPr>
            <p:ph idx="1"/>
          </p:nvPr>
        </p:nvPicPr>
        <p:blipFill>
          <a:blip r:embed="rId3"/>
          <a:stretch>
            <a:fillRect/>
          </a:stretch>
        </p:blipFill>
        <p:spPr>
          <a:xfrm>
            <a:off x="17936" y="27196"/>
            <a:ext cx="12199622" cy="6858640"/>
          </a:xfrm>
          <a:prstGeom prst="rect">
            <a:avLst/>
          </a:prstGeom>
        </p:spPr>
      </p:pic>
    </p:spTree>
    <p:extLst>
      <p:ext uri="{BB962C8B-B14F-4D97-AF65-F5344CB8AC3E}">
        <p14:creationId xmlns:p14="http://schemas.microsoft.com/office/powerpoint/2010/main" val="20741048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2CBF8E2-E2B4-7580-7EB0-E384975DD9DA}"/>
              </a:ext>
            </a:extLst>
          </p:cNvPr>
          <p:cNvSpPr>
            <a:spLocks noGrp="1"/>
          </p:cNvSpPr>
          <p:nvPr>
            <p:ph type="title"/>
          </p:nvPr>
        </p:nvSpPr>
        <p:spPr/>
        <p:txBody>
          <a:bodyPr>
            <a:normAutofit/>
          </a:bodyPr>
          <a:lstStyle/>
          <a:p>
            <a:r>
              <a:rPr lang="ja-JP" altLang="ja-JP" b="1">
                <a:latin typeface="+mn-lt"/>
              </a:rPr>
              <a:t>調性参照の変化を，どう計算するか</a:t>
            </a:r>
            <a:br>
              <a:rPr lang="ja-JP" altLang="ja-JP" b="1">
                <a:latin typeface="+mn-lt"/>
              </a:rPr>
            </a:br>
            <a:r>
              <a:rPr lang="ja-JP" altLang="ja-JP" sz="3200" i="1">
                <a:latin typeface="+mn-lt"/>
              </a:rPr>
              <a:t>How do we model and update the tonal reference?</a:t>
            </a:r>
            <a:endParaRPr lang="ja-JP" altLang="ja-JP" sz="3200">
              <a:latin typeface="+mn-lt"/>
            </a:endParaRPr>
          </a:p>
        </p:txBody>
      </p:sp>
      <p:sp>
        <p:nvSpPr>
          <p:cNvPr id="3" name="コンテンツ プレースホルダー 2">
            <a:extLst>
              <a:ext uri="{FF2B5EF4-FFF2-40B4-BE49-F238E27FC236}">
                <a16:creationId xmlns:a16="http://schemas.microsoft.com/office/drawing/2014/main" id="{9C6DEE75-A228-8193-01C2-D6E3A21486E1}"/>
              </a:ext>
            </a:extLst>
          </p:cNvPr>
          <p:cNvSpPr>
            <a:spLocks noGrp="1"/>
          </p:cNvSpPr>
          <p:nvPr>
            <p:ph idx="1"/>
          </p:nvPr>
        </p:nvSpPr>
        <p:spPr/>
        <p:txBody>
          <a:bodyPr>
            <a:normAutofit fontScale="55000" lnSpcReduction="20000"/>
          </a:bodyPr>
          <a:lstStyle/>
          <a:p>
            <a:r>
              <a:rPr kumimoji="1" lang="en" altLang="ja-JP" dirty="0"/>
              <a:t>Singing</a:t>
            </a:r>
          </a:p>
          <a:p>
            <a:r>
              <a:rPr kumimoji="1" lang="en" altLang="ja-JP" dirty="0"/>
              <a:t> ↓</a:t>
            </a:r>
          </a:p>
          <a:p>
            <a:r>
              <a:rPr kumimoji="1" lang="en" altLang="ja-JP" dirty="0"/>
              <a:t>Pitch Operator</a:t>
            </a:r>
          </a:p>
          <a:p>
            <a:r>
              <a:rPr kumimoji="1" lang="en" altLang="ja-JP" dirty="0"/>
              <a:t> ↓</a:t>
            </a:r>
          </a:p>
          <a:p>
            <a:r>
              <a:rPr kumimoji="1" lang="en" altLang="ja-JP" dirty="0"/>
              <a:t>Pitch Interpreter</a:t>
            </a:r>
          </a:p>
          <a:p>
            <a:r>
              <a:rPr kumimoji="1" lang="en" altLang="ja-JP" dirty="0"/>
              <a:t> ↓</a:t>
            </a:r>
          </a:p>
          <a:p>
            <a:r>
              <a:rPr kumimoji="1" lang="en" altLang="ja-JP" dirty="0"/>
              <a:t>Tonality Operator</a:t>
            </a:r>
          </a:p>
          <a:p>
            <a:r>
              <a:rPr kumimoji="1" lang="en" altLang="ja-JP" dirty="0"/>
              <a:t> ↓</a:t>
            </a:r>
          </a:p>
          <a:p>
            <a:r>
              <a:rPr kumimoji="1" lang="en" altLang="ja-JP" dirty="0"/>
              <a:t>Relative Tonal Frame</a:t>
            </a:r>
          </a:p>
          <a:p>
            <a:r>
              <a:rPr kumimoji="1" lang="en" altLang="ja-JP" dirty="0"/>
              <a:t> ↓</a:t>
            </a:r>
          </a:p>
          <a:p>
            <a:r>
              <a:rPr kumimoji="1" lang="en" altLang="ja-JP" dirty="0"/>
              <a:t>Harmony Generator</a:t>
            </a:r>
          </a:p>
          <a:p>
            <a:r>
              <a:rPr kumimoji="1" lang="en" altLang="ja-JP" dirty="0"/>
              <a:t> ↓</a:t>
            </a:r>
          </a:p>
          <a:p>
            <a:r>
              <a:rPr kumimoji="1" lang="en" altLang="ja-JP" dirty="0"/>
              <a:t>Voice Generation</a:t>
            </a:r>
          </a:p>
          <a:p>
            <a:r>
              <a:rPr kumimoji="1" lang="en" altLang="ja-JP" dirty="0"/>
              <a:t> ↓</a:t>
            </a:r>
          </a:p>
          <a:p>
            <a:r>
              <a:rPr kumimoji="1" lang="en" altLang="ja-JP" dirty="0"/>
              <a:t>Solo Choir</a:t>
            </a:r>
          </a:p>
        </p:txBody>
      </p:sp>
      <p:pic>
        <p:nvPicPr>
          <p:cNvPr id="4" name="図 3">
            <a:extLst>
              <a:ext uri="{FF2B5EF4-FFF2-40B4-BE49-F238E27FC236}">
                <a16:creationId xmlns:a16="http://schemas.microsoft.com/office/drawing/2014/main" id="{B5E93DAB-F79F-0D64-805F-F0B72CD51E70}"/>
              </a:ext>
            </a:extLst>
          </p:cNvPr>
          <p:cNvPicPr>
            <a:picLocks noChangeAspect="1"/>
          </p:cNvPicPr>
          <p:nvPr/>
        </p:nvPicPr>
        <p:blipFill>
          <a:blip r:embed="rId3"/>
          <a:stretch>
            <a:fillRect/>
          </a:stretch>
        </p:blipFill>
        <p:spPr>
          <a:xfrm>
            <a:off x="-3245" y="0"/>
            <a:ext cx="12195243" cy="6856176"/>
          </a:xfrm>
          <a:prstGeom prst="rect">
            <a:avLst/>
          </a:prstGeom>
        </p:spPr>
      </p:pic>
    </p:spTree>
    <p:extLst>
      <p:ext uri="{BB962C8B-B14F-4D97-AF65-F5344CB8AC3E}">
        <p14:creationId xmlns:p14="http://schemas.microsoft.com/office/powerpoint/2010/main" val="1367192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1C6C16D-9BAE-804A-7276-241E93B7972F}"/>
              </a:ext>
            </a:extLst>
          </p:cNvPr>
          <p:cNvSpPr>
            <a:spLocks noGrp="1"/>
          </p:cNvSpPr>
          <p:nvPr>
            <p:ph type="title"/>
          </p:nvPr>
        </p:nvSpPr>
        <p:spPr/>
        <p:txBody>
          <a:bodyPr/>
          <a:lstStyle/>
          <a:p>
            <a:r>
              <a:rPr kumimoji="1" lang="ja-JP" altLang="en-US"/>
              <a:t>実演の仕組み</a:t>
            </a:r>
          </a:p>
        </p:txBody>
      </p:sp>
      <p:pic>
        <p:nvPicPr>
          <p:cNvPr id="9" name="コンテンツ プレースホルダー 8">
            <a:extLst>
              <a:ext uri="{FF2B5EF4-FFF2-40B4-BE49-F238E27FC236}">
                <a16:creationId xmlns:a16="http://schemas.microsoft.com/office/drawing/2014/main" id="{48838EEE-A564-F009-20CC-E6E5FBDC21AD}"/>
              </a:ext>
            </a:extLst>
          </p:cNvPr>
          <p:cNvPicPr>
            <a:picLocks noGrp="1" noChangeAspect="1"/>
          </p:cNvPicPr>
          <p:nvPr>
            <p:ph idx="1"/>
          </p:nvPr>
        </p:nvPicPr>
        <p:blipFill>
          <a:blip r:embed="rId3"/>
          <a:stretch>
            <a:fillRect/>
          </a:stretch>
        </p:blipFill>
        <p:spPr>
          <a:xfrm>
            <a:off x="0" y="-1"/>
            <a:ext cx="12192000" cy="6854355"/>
          </a:xfrm>
          <a:prstGeom prst="rect">
            <a:avLst/>
          </a:prstGeom>
        </p:spPr>
      </p:pic>
    </p:spTree>
    <p:extLst>
      <p:ext uri="{BB962C8B-B14F-4D97-AF65-F5344CB8AC3E}">
        <p14:creationId xmlns:p14="http://schemas.microsoft.com/office/powerpoint/2010/main" val="42750861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30D37A-8ED3-2651-0875-A635B425DF4B}"/>
              </a:ext>
            </a:extLst>
          </p:cNvPr>
          <p:cNvSpPr>
            <a:spLocks noGrp="1"/>
          </p:cNvSpPr>
          <p:nvPr>
            <p:ph type="title"/>
          </p:nvPr>
        </p:nvSpPr>
        <p:spPr/>
        <p:txBody>
          <a:bodyPr/>
          <a:lstStyle/>
          <a:p>
            <a:r>
              <a:rPr kumimoji="1" lang="ja-JP" altLang="en-US"/>
              <a:t>まとめ</a:t>
            </a:r>
          </a:p>
        </p:txBody>
      </p:sp>
      <p:sp>
        <p:nvSpPr>
          <p:cNvPr id="3" name="コンテンツ プレースホルダー 2">
            <a:extLst>
              <a:ext uri="{FF2B5EF4-FFF2-40B4-BE49-F238E27FC236}">
                <a16:creationId xmlns:a16="http://schemas.microsoft.com/office/drawing/2014/main" id="{A7ADCFDA-5C8E-3CB1-E3FA-EE98DB560FAD}"/>
              </a:ext>
            </a:extLst>
          </p:cNvPr>
          <p:cNvSpPr>
            <a:spLocks noGrp="1"/>
          </p:cNvSpPr>
          <p:nvPr>
            <p:ph idx="1"/>
          </p:nvPr>
        </p:nvSpPr>
        <p:spPr/>
        <p:txBody>
          <a:bodyPr/>
          <a:lstStyle/>
          <a:p>
            <a:r>
              <a:rPr lang="ja-JP" altLang="ja-JP"/>
              <a:t>「調を推定する」のではなく</a:t>
            </a:r>
            <a:br>
              <a:rPr lang="ja-JP" altLang="ja-JP"/>
            </a:br>
            <a:r>
              <a:rPr lang="ja-JP" altLang="ja-JP"/>
              <a:t>「歌い手の調性参照を追う」</a:t>
            </a:r>
          </a:p>
          <a:p>
            <a:r>
              <a:rPr lang="ja-JP" altLang="ja-JP"/>
              <a:t>Dynamic Tonal Perspective</a:t>
            </a:r>
          </a:p>
          <a:p>
            <a:r>
              <a:rPr lang="ja-JP" altLang="ja-JP"/>
              <a:t>「自分についてくる合唱」へ</a:t>
            </a:r>
          </a:p>
          <a:p>
            <a:endParaRPr kumimoji="1" lang="ja-JP" altLang="en-US"/>
          </a:p>
        </p:txBody>
      </p:sp>
      <p:pic>
        <p:nvPicPr>
          <p:cNvPr id="4" name="図 3">
            <a:extLst>
              <a:ext uri="{FF2B5EF4-FFF2-40B4-BE49-F238E27FC236}">
                <a16:creationId xmlns:a16="http://schemas.microsoft.com/office/drawing/2014/main" id="{10639D64-8FFD-81F6-1B27-6C21389D61FF}"/>
              </a:ext>
            </a:extLst>
          </p:cNvPr>
          <p:cNvPicPr>
            <a:picLocks noChangeAspect="1"/>
          </p:cNvPicPr>
          <p:nvPr/>
        </p:nvPicPr>
        <p:blipFill>
          <a:blip r:embed="rId3"/>
          <a:stretch>
            <a:fillRect/>
          </a:stretch>
        </p:blipFill>
        <p:spPr>
          <a:xfrm>
            <a:off x="0" y="27195"/>
            <a:ext cx="12101742" cy="6803610"/>
          </a:xfrm>
          <a:prstGeom prst="rect">
            <a:avLst/>
          </a:prstGeom>
        </p:spPr>
      </p:pic>
    </p:spTree>
    <p:extLst>
      <p:ext uri="{BB962C8B-B14F-4D97-AF65-F5344CB8AC3E}">
        <p14:creationId xmlns:p14="http://schemas.microsoft.com/office/powerpoint/2010/main" val="114194906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636</TotalTime>
  <Words>2602</Words>
  <Application>Microsoft Macintosh PowerPoint</Application>
  <PresentationFormat>ワイド画面</PresentationFormat>
  <Paragraphs>147</Paragraphs>
  <Slides>8</Slides>
  <Notes>8</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8</vt:i4>
      </vt:variant>
    </vt:vector>
  </HeadingPairs>
  <TitlesOfParts>
    <vt:vector size="12" baseType="lpstr">
      <vt:lpstr>游ゴシック</vt:lpstr>
      <vt:lpstr>游ゴシック Light</vt:lpstr>
      <vt:lpstr>Arial</vt:lpstr>
      <vt:lpstr>Office テーマ</vt:lpstr>
      <vt:lpstr>動的調性視 Dynamic Tonal Perspective</vt:lpstr>
      <vt:lpstr>ハーモニー生成の前提は、固定された調性か？ Is harmony generation based on a fixed tonality?</vt:lpstr>
      <vt:lpstr>楽曲の調性から，歌い手の調性参照へ From Musical Tonality to the Singer’s Tonal Reference</vt:lpstr>
      <vt:lpstr>歌い手の「調性参照」をどう捉えるか Modeling the Singer’s Tonal Reference</vt:lpstr>
      <vt:lpstr>Relative Tonal Frameはどう動くのか？ How does the Relative Tonal Frame evolve over time?</vt:lpstr>
      <vt:lpstr>調性参照の変化を，どう計算するか How do we model and update the tonal reference?</vt:lpstr>
      <vt:lpstr>実演の仕組み</vt:lpstr>
      <vt:lpstr>まとめ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橋田　光代</dc:creator>
  <cp:lastModifiedBy>橋田　光代</cp:lastModifiedBy>
  <cp:revision>10</cp:revision>
  <dcterms:created xsi:type="dcterms:W3CDTF">2026-08-30T00:47:27Z</dcterms:created>
  <dcterms:modified xsi:type="dcterms:W3CDTF">2026-08-31T02:07:57Z</dcterms:modified>
</cp:coreProperties>
</file>